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3"/>
    <p:sldId id="284" r:id="rId4"/>
    <p:sldId id="285" r:id="rId5"/>
    <p:sldId id="296" r:id="rId6"/>
    <p:sldId id="287" r:id="rId7"/>
    <p:sldId id="288" r:id="rId8"/>
    <p:sldId id="289" r:id="rId9"/>
    <p:sldId id="291" r:id="rId11"/>
    <p:sldId id="293" r:id="rId12"/>
    <p:sldId id="299" r:id="rId13"/>
    <p:sldId id="300" r:id="rId14"/>
    <p:sldId id="298" r:id="rId15"/>
    <p:sldId id="273" r:id="rId16"/>
  </p:sldIdLst>
  <p:sldSz cx="9144000" cy="6858000" type="screen4x3"/>
  <p:notesSz cx="6858000" cy="9144000"/>
  <p:embeddedFontLst>
    <p:embeddedFont>
      <p:font typeface="Algerian" panose="04020705040A02060702" pitchFamily="82" charset="0"/>
      <p:regular r:id="rId20"/>
    </p:embeddedFont>
    <p:embeddedFont>
      <p:font typeface="Book Antiqua" panose="02040602050305030304" charset="0"/>
      <p:regular r:id="rId21"/>
      <p:bold r:id="rId22"/>
      <p:italic r:id="rId23"/>
      <p:boldItalic r:id="rId24"/>
    </p:embeddedFont>
    <p:embeddedFont>
      <p:font typeface="Calibri" panose="020F0502020204030204" charset="0"/>
      <p:regular r:id="rId25"/>
      <p:bold r:id="rId26"/>
      <p:italic r:id="rId27"/>
      <p:boldItalic r:id="rId2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9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snapToObjects="1" showGuides="1">
      <p:cViewPr varScale="1">
        <p:scale>
          <a:sx n="76" d="100"/>
          <a:sy n="76" d="100"/>
        </p:scale>
        <p:origin x="-996" y="-60"/>
      </p:cViewPr>
      <p:guideLst>
        <p:guide orient="horz" pos="2160"/>
        <p:guide pos="2898"/>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8" Type="http://schemas.openxmlformats.org/officeDocument/2006/relationships/font" Target="fonts/font9.fntdata"/><Relationship Id="rId27" Type="http://schemas.openxmlformats.org/officeDocument/2006/relationships/font" Target="fonts/font8.fntdata"/><Relationship Id="rId26" Type="http://schemas.openxmlformats.org/officeDocument/2006/relationships/font" Target="fonts/font7.fntdata"/><Relationship Id="rId25" Type="http://schemas.openxmlformats.org/officeDocument/2006/relationships/font" Target="fonts/font6.fntdata"/><Relationship Id="rId24" Type="http://schemas.openxmlformats.org/officeDocument/2006/relationships/font" Target="fonts/font5.fntdata"/><Relationship Id="rId23" Type="http://schemas.openxmlformats.org/officeDocument/2006/relationships/font" Target="fonts/font4.fntdata"/><Relationship Id="rId22" Type="http://schemas.openxmlformats.org/officeDocument/2006/relationships/font" Target="fonts/font3.fntdata"/><Relationship Id="rId21" Type="http://schemas.openxmlformats.org/officeDocument/2006/relationships/font" Target="fonts/font2.fntdata"/><Relationship Id="rId20" Type="http://schemas.openxmlformats.org/officeDocument/2006/relationships/font" Target="fonts/font1.fntdata"/><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D94F183-4935-44D9-92A4-018D7878468E}"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979C8E1-8809-4FBD-928C-BDCCB1CE1AFC}"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979C8E1-8809-4FBD-928C-BDCCB1CE1AFC}"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Ref idx="1003">
        <a:schemeClr val="bg2"/>
      </p:bgRef>
    </p:bg>
    <p:spTree>
      <p:nvGrpSpPr>
        <p:cNvPr id="1" name=""/>
        <p:cNvGrpSpPr/>
        <p:nvPr/>
      </p:nvGrpSpPr>
      <p:grpSpPr>
        <a:xfrm>
          <a:off x="0" y="0"/>
          <a:ext cx="0" cy="0"/>
          <a:chOff x="0" y="0"/>
          <a:chExt cx="0" cy="0"/>
        </a:xfrm>
      </p:grpSpPr>
      <p:pic>
        <p:nvPicPr>
          <p:cNvPr id="7" name="Picture 6" descr="CoverOverlay.png"/>
          <p:cNvPicPr>
            <a:picLocks noChangeAspect="1"/>
          </p:cNvPicPr>
          <p:nvPr/>
        </p:nvPicPr>
        <p:blipFill>
          <a:blip r:embed="rId2" cstate="print"/>
          <a:stretch>
            <a:fillRect/>
          </a:stretch>
        </p:blipFill>
        <p:spPr>
          <a:xfrm>
            <a:off x="0" y="0"/>
            <a:ext cx="9144000" cy="6858000"/>
          </a:xfrm>
          <a:prstGeom prst="rect">
            <a:avLst/>
          </a:prstGeom>
        </p:spPr>
      </p:pic>
      <p:sp>
        <p:nvSpPr>
          <p:cNvPr id="4" name="Date Placeholder 3"/>
          <p:cNvSpPr>
            <a:spLocks noGrp="1"/>
          </p:cNvSpPr>
          <p:nvPr>
            <p:ph type="dt" sz="half" idx="10"/>
          </p:nvPr>
        </p:nvSpPr>
        <p:spPr/>
        <p:txBody>
          <a:bodyPr/>
          <a:lstStyle>
            <a:lvl1pPr>
              <a:defRPr>
                <a:solidFill>
                  <a:schemeClr val="tx2"/>
                </a:solidFill>
              </a:defRPr>
            </a:lvl1pPr>
          </a:lstStyle>
          <a:p>
            <a:fld id="{58DB32FF-34E7-9545-86A2-0DF334BA82C1}" type="datetimeFigureOut">
              <a:rPr lang="en-US" smtClean="0"/>
            </a:fld>
            <a:endParaRPr lang="en-US"/>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42D70897-D982-EA43-8318-894E8D36E196}" type="slidenum">
              <a:rPr lang="en-US" smtClean="0"/>
            </a:fld>
            <a:endParaRPr lang="en-US"/>
          </a:p>
        </p:txBody>
      </p:sp>
      <p:grpSp>
        <p:nvGrpSpPr>
          <p:cNvPr id="8" name="Group 7"/>
          <p:cNvGrpSpPr/>
          <p:nvPr/>
        </p:nvGrpSpPr>
        <p:grpSpPr>
          <a:xfrm>
            <a:off x="1194101" y="2887530"/>
            <a:ext cx="6779110" cy="923330"/>
            <a:chOff x="1172584" y="1381459"/>
            <a:chExt cx="6779110" cy="923330"/>
          </a:xfrm>
          <a:effectLst>
            <a:outerShdw blurRad="38100" dist="12700" dir="16200000" rotWithShape="0">
              <a:prstClr val="black">
                <a:alpha val="30000"/>
              </a:prstClr>
            </a:outerShdw>
          </a:effectLst>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smtClean="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anose="05000000000000000000" pitchFamily="2" charset="2"/>
                </a:rPr>
                <a:t></a:t>
              </a:r>
              <a:endParaRPr lang="en-US" sz="5400" dirty="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anose="05000000000000000000"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293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183341" y="1387737"/>
            <a:ext cx="6777318" cy="1731982"/>
          </a:xfrm>
        </p:spPr>
        <p:txBody>
          <a:bodyPr anchor="b"/>
          <a:lstStyle>
            <a:lvl1pPr>
              <a:defRPr>
                <a:ln w="3175">
                  <a:solidFill>
                    <a:schemeClr val="tx1">
                      <a:alpha val="65000"/>
                    </a:schemeClr>
                  </a:solidFill>
                </a:ln>
                <a:solidFill>
                  <a:schemeClr val="tx1"/>
                </a:solidFill>
                <a:effectLst>
                  <a:outerShdw blurRad="25400" dist="12700" dir="14220000" rotWithShape="0">
                    <a:prstClr val="black">
                      <a:alpha val="50000"/>
                    </a:prstClr>
                  </a:outerShdw>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1371600" y="3767862"/>
            <a:ext cx="6400800" cy="1752600"/>
          </a:xfrm>
        </p:spPr>
        <p:txBody>
          <a:bodyPr/>
          <a:lstStyle>
            <a:lvl1pPr marL="0" indent="0" algn="ctr">
              <a:buNone/>
              <a:defRPr>
                <a:solidFill>
                  <a:schemeClr val="tx1"/>
                </a:solidFill>
                <a:effectLst>
                  <a:outerShdw blurRad="34925" dist="12700" dir="14400000" rotWithShape="0">
                    <a:prstClr val="black">
                      <a:alpha val="21000"/>
                    </a:prst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8DB32FF-34E7-9545-86A2-0DF334BA82C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D70897-D982-EA43-8318-894E8D36E196}" type="slidenum">
              <a:rPr lang="en-US" smtClean="0"/>
            </a:fld>
            <a:endParaRPr lang="en-US"/>
          </a:p>
        </p:txBody>
      </p:sp>
      <p:sp>
        <p:nvSpPr>
          <p:cNvPr id="11" name="Title 10"/>
          <p:cNvSpPr>
            <a:spLocks noGrp="1"/>
          </p:cNvSpPr>
          <p:nvPr>
            <p:ph type="title"/>
          </p:nvPr>
        </p:nvSpPr>
        <p:spPr/>
        <p:txBody>
          <a:bodyPr/>
          <a:lstStyle/>
          <a:p>
            <a:r>
              <a:rPr lang="en-US" smtClean="0"/>
              <a:t>Click to edit Master title style</a:t>
            </a:r>
            <a:endParaRPr lang="en-US"/>
          </a:p>
        </p:txBody>
      </p:sp>
      <p:grpSp>
        <p:nvGrpSpPr>
          <p:cNvPr id="12" name="Group 11"/>
          <p:cNvGrpSpPr/>
          <p:nvPr/>
        </p:nvGrpSpPr>
        <p:grpSpPr>
          <a:xfrm>
            <a:off x="1172584" y="1392217"/>
            <a:ext cx="6779110" cy="923330"/>
            <a:chOff x="1172584" y="1381459"/>
            <a:chExt cx="6779110" cy="923330"/>
          </a:xfrm>
        </p:grpSpPr>
        <p:sp>
          <p:nvSpPr>
            <p:cNvPr id="13" name="TextBox 12"/>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anose="05000000000000000000" pitchFamily="2" charset="2"/>
                </a:rPr>
                <a:t></a:t>
              </a:r>
              <a:endParaRPr lang="en-US" sz="5400" dirty="0">
                <a:solidFill>
                  <a:schemeClr val="tx2">
                    <a:lumMod val="60000"/>
                    <a:lumOff val="40000"/>
                  </a:schemeClr>
                </a:solidFill>
                <a:latin typeface="Wingdings" panose="05000000000000000000" pitchFamily="2" charset="2"/>
              </a:endParaRPr>
            </a:p>
          </p:txBody>
        </p:sp>
        <p:cxnSp>
          <p:nvCxnSpPr>
            <p:cNvPr id="14" name="Straight Connector 13"/>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pic>
        <p:nvPicPr>
          <p:cNvPr id="12" name="Picture 11" descr="CoverOverlay.png"/>
          <p:cNvPicPr>
            <a:picLocks noChangeAspect="1"/>
          </p:cNvPicPr>
          <p:nvPr/>
        </p:nvPicPr>
        <p:blipFill>
          <a:blip r:embed="rId2" cstate="print">
            <a:lum/>
          </a:blip>
          <a:stretch>
            <a:fillRect/>
          </a:stretch>
        </p:blipFill>
        <p:spPr>
          <a:xfrm>
            <a:off x="0" y="0"/>
            <a:ext cx="9144000" cy="6858000"/>
          </a:xfrm>
          <a:prstGeom prst="rect">
            <a:avLst/>
          </a:prstGeom>
        </p:spPr>
      </p:pic>
      <p:grpSp>
        <p:nvGrpSpPr>
          <p:cNvPr id="7" name="Group 7"/>
          <p:cNvGrpSpPr/>
          <p:nvPr/>
        </p:nvGrpSpPr>
        <p:grpSpPr>
          <a:xfrm>
            <a:off x="1172584" y="2887579"/>
            <a:ext cx="6779110" cy="923330"/>
            <a:chOff x="1172584" y="1381459"/>
            <a:chExt cx="6779110" cy="923330"/>
          </a:xfrm>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anose="05000000000000000000" pitchFamily="2" charset="2"/>
                </a:rPr>
                <a:t></a:t>
              </a:r>
              <a:endParaRPr lang="en-US" sz="5400" dirty="0">
                <a:solidFill>
                  <a:schemeClr val="tx2">
                    <a:lumMod val="60000"/>
                    <a:lumOff val="40000"/>
                  </a:schemeClr>
                </a:solidFill>
                <a:latin typeface="Wingdings" panose="05000000000000000000"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7412"/>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690040" y="1204857"/>
            <a:ext cx="7754713" cy="1910716"/>
          </a:xfrm>
        </p:spPr>
        <p:txBody>
          <a:bodyPr anchor="b"/>
          <a:lstStyle>
            <a:lvl1pPr algn="ctr">
              <a:defRPr sz="5400" b="0" cap="none" baseline="0">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699248" y="3767316"/>
            <a:ext cx="7734747" cy="1500187"/>
          </a:xfrm>
        </p:spPr>
        <p:txBody>
          <a:bodyPr anchor="t"/>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8DB32FF-34E7-9545-86A2-0DF334BA82C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D70897-D982-EA43-8318-894E8D36E196}" type="slidenum">
              <a:rPr lang="en-US" smtClean="0"/>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8DB32FF-34E7-9545-86A2-0DF334BA82C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D70897-D982-EA43-8318-894E8D36E196}" type="slidenum">
              <a:rPr lang="en-US" smtClean="0"/>
            </a:fld>
            <a:endParaRPr lang="en-US"/>
          </a:p>
        </p:txBody>
      </p:sp>
      <p:sp>
        <p:nvSpPr>
          <p:cNvPr id="12" name="Title 11"/>
          <p:cNvSpPr>
            <a:spLocks noGrp="1"/>
          </p:cNvSpPr>
          <p:nvPr>
            <p:ph type="title"/>
          </p:nvPr>
        </p:nvSpPr>
        <p:spPr/>
        <p:txBody>
          <a:bodyPr/>
          <a:lstStyle>
            <a:lvl1pPr>
              <a:defRPr>
                <a:solidFill>
                  <a:schemeClr val="tx2"/>
                </a:solidFill>
              </a:defRPr>
            </a:lvl1pPr>
          </a:lstStyle>
          <a:p>
            <a:r>
              <a:rPr lang="en-US" smtClean="0"/>
              <a:t>Click to edit Master title style</a:t>
            </a:r>
            <a:endParaRPr lang="en-US" dirty="0"/>
          </a:p>
        </p:txBody>
      </p:sp>
      <p:grpSp>
        <p:nvGrpSpPr>
          <p:cNvPr id="13" name="Group 12"/>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anose="05000000000000000000" pitchFamily="2" charset="2"/>
                </a:rPr>
                <a:t></a:t>
              </a:r>
              <a:endParaRPr lang="en-US" sz="5400" dirty="0">
                <a:solidFill>
                  <a:schemeClr val="tx2">
                    <a:lumMod val="60000"/>
                    <a:lumOff val="40000"/>
                  </a:schemeClr>
                </a:solidFill>
                <a:latin typeface="Wingdings" panose="05000000000000000000"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8" name="Content Placeholder 7"/>
          <p:cNvSpPr>
            <a:spLocks noGrp="1"/>
          </p:cNvSpPr>
          <p:nvPr>
            <p:ph sz="quarter" idx="13"/>
          </p:nvPr>
        </p:nvSpPr>
        <p:spPr>
          <a:xfrm>
            <a:off x="685800" y="2240280"/>
            <a:ext cx="3803904" cy="3877056"/>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0" name="Content Placeholder 9"/>
          <p:cNvSpPr>
            <a:spLocks noGrp="1"/>
          </p:cNvSpPr>
          <p:nvPr>
            <p:ph sz="quarter" idx="14"/>
          </p:nvPr>
        </p:nvSpPr>
        <p:spPr>
          <a:xfrm>
            <a:off x="4645151" y="2240280"/>
            <a:ext cx="3803904" cy="3877056"/>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051560" y="2240280"/>
            <a:ext cx="3442446"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688488" y="2947595"/>
            <a:ext cx="3803904"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Text Placeholder 4"/>
          <p:cNvSpPr>
            <a:spLocks noGrp="1"/>
          </p:cNvSpPr>
          <p:nvPr>
            <p:ph type="body" sz="quarter" idx="3"/>
          </p:nvPr>
        </p:nvSpPr>
        <p:spPr>
          <a:xfrm>
            <a:off x="5002306" y="2240280"/>
            <a:ext cx="3447288"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6" y="2944368"/>
            <a:ext cx="3799728"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7" name="Date Placeholder 6"/>
          <p:cNvSpPr>
            <a:spLocks noGrp="1"/>
          </p:cNvSpPr>
          <p:nvPr>
            <p:ph type="dt" sz="half" idx="10"/>
          </p:nvPr>
        </p:nvSpPr>
        <p:spPr/>
        <p:txBody>
          <a:bodyPr/>
          <a:lstStyle/>
          <a:p>
            <a:fld id="{58DB32FF-34E7-9545-86A2-0DF334BA82C1}"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2D70897-D982-EA43-8318-894E8D36E196}" type="slidenum">
              <a:rPr lang="en-US" smtClean="0"/>
            </a:fld>
            <a:endParaRPr lang="en-US"/>
          </a:p>
        </p:txBody>
      </p:sp>
      <p:grpSp>
        <p:nvGrpSpPr>
          <p:cNvPr id="14" name="Group 13"/>
          <p:cNvGrpSpPr/>
          <p:nvPr/>
        </p:nvGrpSpPr>
        <p:grpSpPr>
          <a:xfrm>
            <a:off x="1172584" y="1392217"/>
            <a:ext cx="6779110" cy="923330"/>
            <a:chOff x="1172584" y="1381459"/>
            <a:chExt cx="6779110" cy="923330"/>
          </a:xfrm>
        </p:grpSpPr>
        <p:sp>
          <p:nvSpPr>
            <p:cNvPr id="16" name="TextBox 15"/>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anose="05000000000000000000" pitchFamily="2" charset="2"/>
                </a:rPr>
                <a:t></a:t>
              </a:r>
              <a:endParaRPr lang="en-US" sz="5400" dirty="0">
                <a:solidFill>
                  <a:schemeClr val="tx2">
                    <a:lumMod val="60000"/>
                    <a:lumOff val="40000"/>
                  </a:schemeClr>
                </a:solidFill>
                <a:latin typeface="Wingdings" panose="05000000000000000000" pitchFamily="2" charset="2"/>
              </a:endParaRPr>
            </a:p>
          </p:txBody>
        </p:sp>
        <p:cxnSp>
          <p:nvCxnSpPr>
            <p:cNvPr id="17" name="Straight Connector 16"/>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58DB32FF-34E7-9545-86A2-0DF334BA82C1}"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2D70897-D982-EA43-8318-894E8D36E196}" type="slidenum">
              <a:rPr lang="en-US" smtClean="0"/>
            </a:fld>
            <a:endParaRPr lang="en-US"/>
          </a:p>
        </p:txBody>
      </p:sp>
      <p:grpSp>
        <p:nvGrpSpPr>
          <p:cNvPr id="10" name="Group 9"/>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anose="05000000000000000000" pitchFamily="2" charset="2"/>
                </a:rPr>
                <a:t></a:t>
              </a:r>
              <a:endParaRPr lang="en-US" sz="5400" dirty="0">
                <a:solidFill>
                  <a:schemeClr val="tx2">
                    <a:lumMod val="60000"/>
                    <a:lumOff val="40000"/>
                  </a:schemeClr>
                </a:solidFill>
                <a:latin typeface="Wingdings" panose="05000000000000000000"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8DB32FF-34E7-9545-86A2-0DF334BA82C1}"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2D70897-D982-EA43-8318-894E8D36E196}"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34579" y="1678195"/>
            <a:ext cx="3422483" cy="1886921"/>
          </a:xfrm>
        </p:spPr>
        <p:txBody>
          <a:bodyPr anchor="b"/>
          <a:lstStyle>
            <a:lvl1pPr algn="l">
              <a:defRPr sz="2800" b="0"/>
            </a:lvl1pPr>
          </a:lstStyle>
          <a:p>
            <a:r>
              <a:rPr lang="en-US" smtClean="0"/>
              <a:t>Click to edit Master title style</a:t>
            </a:r>
            <a:endParaRPr lang="en-US"/>
          </a:p>
        </p:txBody>
      </p:sp>
      <p:sp>
        <p:nvSpPr>
          <p:cNvPr id="3" name="Content Placeholder 2"/>
          <p:cNvSpPr>
            <a:spLocks noGrp="1"/>
          </p:cNvSpPr>
          <p:nvPr>
            <p:ph idx="1"/>
          </p:nvPr>
        </p:nvSpPr>
        <p:spPr>
          <a:xfrm>
            <a:off x="692001" y="559398"/>
            <a:ext cx="4116667" cy="5566765"/>
          </a:xfrm>
        </p:spPr>
        <p:txBody>
          <a:bodyPr anchor="ct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Text Placeholder 3"/>
          <p:cNvSpPr>
            <a:spLocks noGrp="1"/>
          </p:cNvSpPr>
          <p:nvPr>
            <p:ph type="body" sz="half" idx="2"/>
          </p:nvPr>
        </p:nvSpPr>
        <p:spPr>
          <a:xfrm>
            <a:off x="5034579" y="3603812"/>
            <a:ext cx="3411725" cy="2517289"/>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8DB32FF-34E7-9545-86A2-0DF334BA82C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D70897-D982-EA43-8318-894E8D36E196}"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731" y="4668818"/>
            <a:ext cx="7767021" cy="644729"/>
          </a:xfrm>
        </p:spPr>
        <p:txBody>
          <a:bodyPr anchor="b"/>
          <a:lstStyle>
            <a:lvl1pPr algn="ctr">
              <a:defRPr sz="2800" b="0"/>
            </a:lvl1pPr>
          </a:lstStyle>
          <a:p>
            <a:r>
              <a:rPr lang="en-US" smtClean="0"/>
              <a:t>Click to edit Master title style</a:t>
            </a:r>
            <a:endParaRPr lang="en-US"/>
          </a:p>
        </p:txBody>
      </p:sp>
      <p:sp>
        <p:nvSpPr>
          <p:cNvPr id="3" name="Picture Placeholder 2"/>
          <p:cNvSpPr>
            <a:spLocks noGrp="1"/>
          </p:cNvSpPr>
          <p:nvPr>
            <p:ph type="pic" idx="1"/>
          </p:nvPr>
        </p:nvSpPr>
        <p:spPr>
          <a:xfrm rot="240000">
            <a:off x="2183792" y="666965"/>
            <a:ext cx="4772156" cy="3598016"/>
          </a:xfrm>
          <a:solidFill>
            <a:srgbClr val="FFFFFF">
              <a:shade val="85000"/>
            </a:srgbClr>
          </a:solidFill>
          <a:ln w="190500" cap="sq">
            <a:solidFill>
              <a:srgbClr val="FFFFFF"/>
            </a:solidFill>
            <a:miter lim="800000"/>
          </a:ln>
          <a:effectLst>
            <a:outerShdw blurRad="65000" dist="50800" dir="12900000" kx="195000" ky="145000" algn="tl" rotWithShape="0">
              <a:srgbClr val="000000">
                <a:alpha val="24000"/>
              </a:srgbClr>
            </a:outerShdw>
          </a:effectLst>
          <a:scene3d>
            <a:camera prst="orthographicFront">
              <a:rot lat="0" lon="0" rev="360000"/>
            </a:camera>
            <a:lightRig rig="twoPt" dir="t">
              <a:rot lat="0" lon="0" rev="7200000"/>
            </a:lightRig>
          </a:scene3d>
          <a:sp3d contourW="12700">
            <a:bevelT w="25400" h="19050"/>
            <a:contourClr>
              <a:srgbClr val="969696"/>
            </a:contourClr>
          </a:sp3d>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88489" y="5324306"/>
            <a:ext cx="7756264" cy="804862"/>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8DB32FF-34E7-9545-86A2-0DF334BA82C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D70897-D982-EA43-8318-894E8D36E196}"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nchor="ct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8DB32FF-34E7-9545-86A2-0DF334BA82C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D70897-D982-EA43-8318-894E8D36E196}" type="slidenum">
              <a:rPr lang="en-US" smtClean="0"/>
            </a:fld>
            <a:endParaRPr lang="en-US"/>
          </a:p>
        </p:txBody>
      </p:sp>
      <p:grpSp>
        <p:nvGrpSpPr>
          <p:cNvPr id="11" name="Group 10"/>
          <p:cNvGrpSpPr/>
          <p:nvPr/>
        </p:nvGrpSpPr>
        <p:grpSpPr>
          <a:xfrm>
            <a:off x="1172584" y="1392217"/>
            <a:ext cx="6779110" cy="923330"/>
            <a:chOff x="1172584" y="1381459"/>
            <a:chExt cx="6779110" cy="923330"/>
          </a:xfrm>
        </p:grpSpPr>
        <p:sp>
          <p:nvSpPr>
            <p:cNvPr id="15" name="TextBox 14"/>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anose="05000000000000000000" pitchFamily="2" charset="2"/>
                </a:rPr>
                <a:t></a:t>
              </a:r>
              <a:endParaRPr lang="en-US" sz="5400" dirty="0">
                <a:solidFill>
                  <a:schemeClr val="tx2">
                    <a:lumMod val="60000"/>
                    <a:lumOff val="40000"/>
                  </a:schemeClr>
                </a:solidFill>
                <a:latin typeface="Wingdings" panose="05000000000000000000" pitchFamily="2" charset="2"/>
              </a:endParaRPr>
            </a:p>
          </p:txBody>
        </p:sp>
        <p:cxnSp>
          <p:nvCxnSpPr>
            <p:cNvPr id="16" name="Straight Connector 15"/>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6560" y="559398"/>
            <a:ext cx="1678193" cy="556676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8488" y="849854"/>
            <a:ext cx="5507917" cy="5023821"/>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8DB32FF-34E7-9545-86A2-0DF334BA82C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D70897-D982-EA43-8318-894E8D36E196}" type="slidenum">
              <a:rPr lang="en-US" smtClean="0"/>
            </a:fld>
            <a:endParaRPr lang="en-US"/>
          </a:p>
        </p:txBody>
      </p:sp>
      <p:grpSp>
        <p:nvGrpSpPr>
          <p:cNvPr id="11" name="Group 10"/>
          <p:cNvGrpSpPr/>
          <p:nvPr/>
        </p:nvGrpSpPr>
        <p:grpSpPr>
          <a:xfrm rot="5400000">
            <a:off x="3909050" y="2880823"/>
            <a:ext cx="5480154" cy="923330"/>
            <a:chOff x="1815339" y="1381459"/>
            <a:chExt cx="5480154" cy="923330"/>
          </a:xfrm>
        </p:grpSpPr>
        <p:sp>
          <p:nvSpPr>
            <p:cNvPr id="12" name="TextBox 11"/>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anose="05000000000000000000" pitchFamily="2" charset="2"/>
                </a:rPr>
                <a:t></a:t>
              </a:r>
              <a:endParaRPr lang="en-US" sz="5400" dirty="0">
                <a:solidFill>
                  <a:schemeClr val="tx2">
                    <a:lumMod val="60000"/>
                    <a:lumOff val="40000"/>
                  </a:schemeClr>
                </a:solidFill>
                <a:latin typeface="Wingdings" panose="05000000000000000000" pitchFamily="2" charset="2"/>
              </a:endParaRPr>
            </a:p>
          </p:txBody>
        </p:sp>
        <p:cxnSp>
          <p:nvCxnSpPr>
            <p:cNvPr id="13" name="Straight Connector 12"/>
            <p:cNvCxnSpPr/>
            <p:nvPr/>
          </p:nvCxnSpPr>
          <p:spPr>
            <a:xfrm flipH="1" flipV="1">
              <a:off x="1815339" y="1924709"/>
              <a:ext cx="2468880" cy="2505"/>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4826613" y="1927417"/>
              <a:ext cx="2468880"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gradFill flip="none" rotWithShape="1">
            <a:gsLst>
              <a:gs pos="83000">
                <a:schemeClr val="bg1">
                  <a:alpha val="11000"/>
                </a:schemeClr>
              </a:gs>
              <a:gs pos="100000">
                <a:schemeClr val="bg2">
                  <a:lumMod val="75000"/>
                  <a:alpha val="23000"/>
                </a:schemeClr>
              </a:gs>
            </a:gsLst>
            <a:path path="rect">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88490" y="570156"/>
            <a:ext cx="7756263" cy="105425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699247" y="2248347"/>
            <a:ext cx="7745505" cy="3877815"/>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2"/>
          </p:nvPr>
        </p:nvSpPr>
        <p:spPr>
          <a:xfrm>
            <a:off x="360378" y="6161442"/>
            <a:ext cx="2133600" cy="365125"/>
          </a:xfrm>
          <a:prstGeom prst="rect">
            <a:avLst/>
          </a:prstGeom>
        </p:spPr>
        <p:txBody>
          <a:bodyPr vert="horz" lIns="91440" tIns="45720" rIns="91440" bIns="45720" rtlCol="0" anchor="ctr"/>
          <a:lstStyle>
            <a:lvl1pPr algn="l">
              <a:defRPr sz="1200">
                <a:solidFill>
                  <a:schemeClr val="tx2"/>
                </a:solidFill>
              </a:defRPr>
            </a:lvl1pPr>
          </a:lstStyle>
          <a:p>
            <a:fld id="{58DB32FF-34E7-9545-86A2-0DF334BA82C1}" type="datetimeFigureOut">
              <a:rPr lang="en-US" smtClean="0"/>
            </a:fld>
            <a:endParaRPr lang="en-US"/>
          </a:p>
        </p:txBody>
      </p:sp>
      <p:sp>
        <p:nvSpPr>
          <p:cNvPr id="5" name="Footer Placeholder 4"/>
          <p:cNvSpPr>
            <a:spLocks noGrp="1"/>
          </p:cNvSpPr>
          <p:nvPr>
            <p:ph type="ftr" sz="quarter" idx="3"/>
          </p:nvPr>
        </p:nvSpPr>
        <p:spPr>
          <a:xfrm>
            <a:off x="3124200" y="6161442"/>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en-US"/>
          </a:p>
        </p:txBody>
      </p:sp>
      <p:sp>
        <p:nvSpPr>
          <p:cNvPr id="6" name="Slide Number Placeholder 5"/>
          <p:cNvSpPr>
            <a:spLocks noGrp="1"/>
          </p:cNvSpPr>
          <p:nvPr>
            <p:ph type="sldNum" sz="quarter" idx="4"/>
          </p:nvPr>
        </p:nvSpPr>
        <p:spPr>
          <a:xfrm>
            <a:off x="6639264" y="6161442"/>
            <a:ext cx="2133600" cy="365125"/>
          </a:xfrm>
          <a:prstGeom prst="rect">
            <a:avLst/>
          </a:prstGeom>
        </p:spPr>
        <p:txBody>
          <a:bodyPr vert="horz" lIns="91440" tIns="45720" rIns="91440" bIns="45720" rtlCol="0" anchor="ctr"/>
          <a:lstStyle>
            <a:lvl1pPr algn="r">
              <a:defRPr sz="1200">
                <a:solidFill>
                  <a:schemeClr val="tx2"/>
                </a:solidFill>
              </a:defRPr>
            </a:lvl1pPr>
          </a:lstStyle>
          <a:p>
            <a:fld id="{42D70897-D982-EA43-8318-894E8D36E196}"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5760" indent="-365760" algn="l" defTabSz="914400" rtl="0" eaLnBrk="1" latinLnBrk="0" hangingPunct="1">
        <a:spcBef>
          <a:spcPct val="20000"/>
        </a:spcBef>
        <a:buClr>
          <a:schemeClr val="accent1"/>
        </a:buClr>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anose="05000000000000000000"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anose="05000000000000000000"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anose="05000000000000000000"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anose="05000000000000000000"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anose="05000000000000000000"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2119745"/>
            <a:ext cx="9144000" cy="4769485"/>
          </a:xfrm>
          <a:prstGeom prst="rect">
            <a:avLst/>
          </a:prstGeom>
        </p:spPr>
        <p:txBody>
          <a:bodyPr wrap="square">
            <a:spAutoFit/>
          </a:bodyPr>
          <a:lstStyle/>
          <a:p>
            <a:pPr algn="just"/>
            <a:r>
              <a:rPr lang="en-US" sz="2000" dirty="0" smtClean="0">
                <a:latin typeface="Algerian" panose="04020705040A02060702" pitchFamily="82" charset="0"/>
                <a:cs typeface="Times New Roman" panose="02020603050405020304" charset="0"/>
              </a:rPr>
              <a:t>	</a:t>
            </a:r>
            <a:r>
              <a:rPr lang="en-US" sz="2000" dirty="0" smtClean="0">
                <a:latin typeface="Times New Roman" panose="02020603050405020304" charset="0"/>
                <a:cs typeface="Times New Roman" panose="02020603050405020304" charset="0"/>
              </a:rPr>
              <a:t>DEPARTMENT OF COMPUTER SCIENCE AND ENGINEERING (AI&amp;ML)</a:t>
            </a:r>
            <a:endParaRPr lang="en-US" sz="2000" dirty="0" smtClean="0">
              <a:latin typeface="Times New Roman" panose="02020603050405020304" charset="0"/>
              <a:cs typeface="Times New Roman" panose="02020603050405020304" charset="0"/>
            </a:endParaRPr>
          </a:p>
          <a:p>
            <a:pPr algn="just"/>
            <a:endParaRPr lang="en-US" sz="2000" b="1" dirty="0" smtClean="0">
              <a:latin typeface="Times New Roman" panose="02020603050405020304" charset="0"/>
              <a:cs typeface="Times New Roman" panose="02020603050405020304" charset="0"/>
            </a:endParaRPr>
          </a:p>
          <a:p>
            <a:pPr algn="just"/>
            <a:r>
              <a:rPr lang="en-US" sz="2000" b="1" dirty="0" smtClean="0">
                <a:latin typeface="Times New Roman" panose="02020603050405020304" charset="0"/>
                <a:cs typeface="Times New Roman" panose="02020603050405020304" charset="0"/>
              </a:rPr>
              <a:t>	</a:t>
            </a:r>
            <a:r>
              <a:rPr lang="en-US" sz="2400" b="1" dirty="0" smtClean="0">
                <a:latin typeface="Times New Roman" panose="02020603050405020304" charset="0"/>
                <a:cs typeface="Times New Roman" panose="02020603050405020304" charset="0"/>
              </a:rPr>
              <a:t>AI POWERED VEHICLE DAMAGE ASSESSMENT AND 			COST ESTIMATION FOR INSURANCE CLAIMS</a:t>
            </a:r>
            <a:r>
              <a:rPr lang="en-US" sz="2000" b="1" dirty="0" smtClean="0">
                <a:latin typeface="Times New Roman" panose="02020603050405020304" charset="0"/>
                <a:cs typeface="Times New Roman" panose="02020603050405020304" charset="0"/>
              </a:rPr>
              <a:t>	</a:t>
            </a:r>
            <a:r>
              <a:rPr lang="en-US" sz="1600" b="1" dirty="0" smtClean="0">
                <a:latin typeface="Times New Roman" panose="02020603050405020304" charset="0"/>
                <a:cs typeface="Times New Roman" panose="02020603050405020304" charset="0"/>
              </a:rPr>
              <a:t>			</a:t>
            </a:r>
            <a:endParaRPr lang="en-IN" sz="2800" dirty="0" smtClean="0"/>
          </a:p>
          <a:p>
            <a:pPr algn="just"/>
            <a:br>
              <a:rPr lang="en-IN" dirty="0"/>
            </a:br>
            <a:br>
              <a:rPr lang="en-IN" dirty="0"/>
            </a:br>
            <a:br>
              <a:rPr lang="en-IN" sz="1400" dirty="0" smtClean="0">
                <a:latin typeface="Times New Roman" panose="02020603050405020304" charset="0"/>
                <a:cs typeface="Times New Roman" panose="02020603050405020304" charset="0"/>
              </a:rPr>
            </a:br>
            <a:br>
              <a:rPr lang="en-IN" sz="1400" dirty="0" smtClean="0">
                <a:latin typeface="Times New Roman" panose="02020603050405020304" charset="0"/>
                <a:cs typeface="Times New Roman" panose="02020603050405020304" charset="0"/>
              </a:rPr>
            </a:br>
            <a:endParaRPr lang="en-US" sz="1400" dirty="0" smtClean="0">
              <a:latin typeface="Times New Roman" panose="02020603050405020304" charset="0"/>
              <a:cs typeface="Times New Roman" panose="02020603050405020304" charset="0"/>
            </a:endParaRPr>
          </a:p>
          <a:p>
            <a:pPr algn="just">
              <a:buClrTx/>
              <a:buSzTx/>
              <a:buFontTx/>
            </a:pPr>
            <a:r>
              <a:rPr lang="en-US" sz="1800" dirty="0" smtClean="0">
                <a:latin typeface="Times New Roman" panose="02020603050405020304" charset="0"/>
                <a:cs typeface="Times New Roman" panose="02020603050405020304" charset="0"/>
                <a:sym typeface="+mn-ea"/>
              </a:rPr>
              <a:t>          Under the Guidance of</a:t>
            </a:r>
            <a:endParaRPr lang="en-US" sz="1800" dirty="0" smtClean="0">
              <a:latin typeface="Times New Roman" panose="02020603050405020304" charset="0"/>
              <a:cs typeface="Times New Roman" panose="02020603050405020304" charset="0"/>
              <a:sym typeface="+mn-ea"/>
            </a:endParaRPr>
          </a:p>
          <a:p>
            <a:pPr algn="just">
              <a:buClrTx/>
              <a:buSzTx/>
              <a:buFontTx/>
            </a:pPr>
            <a:endParaRPr lang="en-US" sz="1800" dirty="0" smtClean="0">
              <a:latin typeface="Times New Roman" panose="02020603050405020304" charset="0"/>
              <a:cs typeface="Times New Roman" panose="02020603050405020304" charset="0"/>
              <a:sym typeface="+mn-ea"/>
            </a:endParaRPr>
          </a:p>
          <a:p>
            <a:pPr algn="just">
              <a:buClrTx/>
              <a:buSzTx/>
              <a:buFontTx/>
            </a:pPr>
            <a:r>
              <a:rPr lang="en-US" sz="1800" dirty="0" smtClean="0">
                <a:latin typeface="Times New Roman" panose="02020603050405020304" charset="0"/>
                <a:cs typeface="Times New Roman" panose="02020603050405020304" charset="0"/>
                <a:sym typeface="+mn-ea"/>
              </a:rPr>
              <a:t>             Asst Prof.J.VEDIKA</a:t>
            </a:r>
            <a:endParaRPr lang="en-US" sz="1800" dirty="0" smtClean="0">
              <a:latin typeface="Times New Roman" panose="02020603050405020304" charset="0"/>
              <a:cs typeface="Times New Roman" panose="02020603050405020304" charset="0"/>
            </a:endParaRPr>
          </a:p>
          <a:p>
            <a:pPr algn="ctr"/>
            <a:br>
              <a:rPr lang="en-IN" sz="1400" dirty="0" smtClean="0">
                <a:latin typeface="Times New Roman" panose="02020603050405020304" charset="0"/>
                <a:cs typeface="Times New Roman" panose="02020603050405020304" charset="0"/>
              </a:rPr>
            </a:br>
            <a:br>
              <a:rPr lang="en-IN" dirty="0" smtClean="0">
                <a:latin typeface="Times New Roman" panose="02020603050405020304" charset="0"/>
                <a:cs typeface="Times New Roman" panose="02020603050405020304" charset="0"/>
              </a:rPr>
            </a:br>
            <a:br>
              <a:rPr lang="en-IN" dirty="0" smtClean="0">
                <a:latin typeface="Times New Roman" panose="02020603050405020304" charset="0"/>
                <a:cs typeface="Times New Roman" panose="02020603050405020304" charset="0"/>
              </a:rPr>
            </a:br>
            <a:endParaRPr lang="en-IN" dirty="0" smtClean="0">
              <a:latin typeface="Times New Roman" panose="02020603050405020304" charset="0"/>
              <a:cs typeface="Times New Roman" panose="02020603050405020304" charset="0"/>
            </a:endParaRPr>
          </a:p>
        </p:txBody>
      </p:sp>
      <p:pic>
        <p:nvPicPr>
          <p:cNvPr id="5" name="Picture 4"/>
          <p:cNvPicPr/>
          <p:nvPr/>
        </p:nvPicPr>
        <p:blipFill>
          <a:blip r:embed="rId1"/>
          <a:srcRect/>
          <a:stretch>
            <a:fillRect/>
          </a:stretch>
        </p:blipFill>
        <p:spPr bwMode="auto">
          <a:xfrm>
            <a:off x="616018" y="182880"/>
            <a:ext cx="7971186" cy="1491916"/>
          </a:xfrm>
          <a:prstGeom prst="rect">
            <a:avLst/>
          </a:prstGeom>
          <a:noFill/>
          <a:ln w="9525">
            <a:noFill/>
            <a:miter lim="800000"/>
            <a:headEnd/>
            <a:tailEnd/>
          </a:ln>
        </p:spPr>
      </p:pic>
      <p:sp>
        <p:nvSpPr>
          <p:cNvPr id="6" name="Rectangle 5"/>
          <p:cNvSpPr/>
          <p:nvPr/>
        </p:nvSpPr>
        <p:spPr>
          <a:xfrm>
            <a:off x="4211273" y="3628724"/>
            <a:ext cx="4026716" cy="2861310"/>
          </a:xfrm>
          <a:prstGeom prst="rect">
            <a:avLst/>
          </a:prstGeom>
        </p:spPr>
        <p:txBody>
          <a:bodyPr wrap="square">
            <a:spAutoFit/>
          </a:bodyPr>
          <a:lstStyle/>
          <a:p>
            <a:pPr algn="just"/>
            <a:r>
              <a:rPr lang="en-US" dirty="0" smtClean="0">
                <a:latin typeface="Times New Roman" panose="02020603050405020304" charset="0"/>
                <a:cs typeface="Times New Roman" panose="02020603050405020304" charset="0"/>
              </a:rPr>
              <a:t>                 Presented by:</a:t>
            </a:r>
            <a:endParaRPr lang="en-US" dirty="0" smtClean="0">
              <a:latin typeface="Times New Roman" panose="02020603050405020304" charset="0"/>
              <a:cs typeface="Times New Roman" panose="02020603050405020304" charset="0"/>
            </a:endParaRPr>
          </a:p>
          <a:p>
            <a:pPr algn="just"/>
            <a:endParaRPr lang="en-US" dirty="0" smtClean="0">
              <a:latin typeface="Times New Roman" panose="02020603050405020304" charset="0"/>
              <a:cs typeface="Times New Roman" panose="02020603050405020304" charset="0"/>
            </a:endParaRPr>
          </a:p>
          <a:p>
            <a:pPr algn="just"/>
            <a:r>
              <a:rPr lang="en-US" dirty="0" smtClean="0">
                <a:latin typeface="Times New Roman" panose="02020603050405020304" charset="0"/>
                <a:cs typeface="Times New Roman" panose="02020603050405020304" charset="0"/>
              </a:rPr>
              <a:t>U.SWATHI   	       (206Y1A6649)</a:t>
            </a:r>
            <a:endParaRPr lang="en-US" dirty="0" smtClean="0">
              <a:latin typeface="Times New Roman" panose="02020603050405020304" charset="0"/>
              <a:cs typeface="Times New Roman" panose="02020603050405020304" charset="0"/>
            </a:endParaRPr>
          </a:p>
          <a:p>
            <a:pPr algn="just"/>
            <a:endParaRPr lang="en-US" dirty="0" smtClean="0">
              <a:latin typeface="Times New Roman" panose="02020603050405020304" charset="0"/>
              <a:cs typeface="Times New Roman" panose="02020603050405020304" charset="0"/>
            </a:endParaRPr>
          </a:p>
          <a:p>
            <a:pPr algn="just"/>
            <a:r>
              <a:rPr lang="en-US" dirty="0" smtClean="0">
                <a:latin typeface="Times New Roman" panose="02020603050405020304" charset="0"/>
                <a:cs typeface="Times New Roman" panose="02020603050405020304" charset="0"/>
              </a:rPr>
              <a:t>D.SUSMITHA      (216Y5A6601)</a:t>
            </a:r>
            <a:endParaRPr lang="en-US" dirty="0" smtClean="0">
              <a:latin typeface="Times New Roman" panose="02020603050405020304" charset="0"/>
              <a:cs typeface="Times New Roman" panose="02020603050405020304" charset="0"/>
            </a:endParaRPr>
          </a:p>
          <a:p>
            <a:pPr algn="just"/>
            <a:endParaRPr lang="en-US" dirty="0" smtClean="0">
              <a:latin typeface="Times New Roman" panose="02020603050405020304" charset="0"/>
              <a:cs typeface="Times New Roman" panose="02020603050405020304" charset="0"/>
            </a:endParaRPr>
          </a:p>
          <a:p>
            <a:pPr algn="just"/>
            <a:r>
              <a:rPr lang="en-US" dirty="0" smtClean="0">
                <a:latin typeface="Times New Roman" panose="02020603050405020304" charset="0"/>
                <a:cs typeface="Times New Roman" panose="02020603050405020304" charset="0"/>
              </a:rPr>
              <a:t>N.BHARANI        (206Y1A6636)</a:t>
            </a:r>
            <a:endParaRPr lang="en-US" dirty="0" smtClean="0">
              <a:latin typeface="Times New Roman" panose="02020603050405020304" charset="0"/>
              <a:cs typeface="Times New Roman" panose="02020603050405020304" charset="0"/>
            </a:endParaRPr>
          </a:p>
          <a:p>
            <a:pPr algn="just"/>
            <a:endParaRPr lang="en-US" dirty="0" smtClean="0">
              <a:latin typeface="Times New Roman" panose="02020603050405020304" charset="0"/>
              <a:cs typeface="Times New Roman" panose="02020603050405020304" charset="0"/>
            </a:endParaRPr>
          </a:p>
          <a:p>
            <a:pPr algn="just"/>
            <a:r>
              <a:rPr lang="en-US" dirty="0" smtClean="0">
                <a:latin typeface="Times New Roman" panose="02020603050405020304" charset="0"/>
                <a:cs typeface="Times New Roman" panose="02020603050405020304" charset="0"/>
              </a:rPr>
              <a:t>B.BHAVANI         (206Y1A6606)</a:t>
            </a:r>
            <a:endParaRPr lang="en-US" dirty="0" smtClean="0">
              <a:latin typeface="Times New Roman" panose="02020603050405020304" charset="0"/>
              <a:cs typeface="Times New Roman" panose="02020603050405020304" charset="0"/>
            </a:endParaRPr>
          </a:p>
          <a:p>
            <a:pPr algn="just"/>
            <a:endParaRPr lang="en-US" dirty="0">
              <a:latin typeface="Times New Roman" panose="02020603050405020304" charset="0"/>
              <a:cs typeface="Times New Roman" panose="02020603050405020304" charset="0"/>
            </a:endParaRPr>
          </a:p>
        </p:txBody>
      </p:sp>
    </p:spTree>
  </p:cSld>
  <p:clrMapOvr>
    <a:masterClrMapping/>
  </p:clrMapOvr>
  <p:transition spd="slow"/>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9135" y="2105025"/>
            <a:ext cx="7745730" cy="4498340"/>
          </a:xfrm>
        </p:spPr>
        <p:txBody>
          <a:bodyPr>
            <a:normAutofit/>
          </a:bodyPr>
          <a:lstStyle/>
          <a:p>
            <a:pPr algn="just">
              <a:lnSpc>
                <a:spcPct val="150000"/>
              </a:lnSpc>
            </a:pPr>
            <a:r>
              <a:rPr lang="en-US" sz="1555" dirty="0" smtClean="0">
                <a:latin typeface="Times New Roman" panose="02020603050405020304" charset="0"/>
                <a:cs typeface="Times New Roman" panose="02020603050405020304" charset="0"/>
              </a:rPr>
              <a:t>Nowadays, a lot of money is being wasted in the car insurance business due to leakage claims. Claims leakage /Underwriting leakage is characterized as the discrepancy between the actual payment of claims made and the sum that should have been paid if all of the industry's leading practices were applied. Visual examination and testing have been used to may these results. However, they impose delays in the processing of claims. </a:t>
            </a:r>
            <a:endParaRPr lang="en-US" sz="1555" dirty="0" smtClean="0">
              <a:latin typeface="Times New Roman" panose="02020603050405020304" charset="0"/>
              <a:cs typeface="Times New Roman" panose="02020603050405020304" charset="0"/>
            </a:endParaRPr>
          </a:p>
          <a:p>
            <a:pPr algn="just">
              <a:lnSpc>
                <a:spcPct val="150000"/>
              </a:lnSpc>
            </a:pPr>
            <a:r>
              <a:rPr lang="en-US" sz="1555" dirty="0" smtClean="0">
                <a:latin typeface="Times New Roman" panose="02020603050405020304" charset="0"/>
                <a:cs typeface="Times New Roman" panose="02020603050405020304" charset="0"/>
              </a:rPr>
              <a:t>To address these challenges, AI powered solutions have emerged to enhance the accuracy and efficiency of vehicle damage assessment and cost estimation for insurance claims.</a:t>
            </a:r>
            <a:endParaRPr lang="en-US" sz="1555" dirty="0" smtClean="0">
              <a:latin typeface="Times New Roman" panose="02020603050405020304" charset="0"/>
              <a:cs typeface="Times New Roman" panose="02020603050405020304" charset="0"/>
            </a:endParaRPr>
          </a:p>
          <a:p>
            <a:pPr algn="just">
              <a:lnSpc>
                <a:spcPct val="150000"/>
              </a:lnSpc>
            </a:pPr>
            <a:r>
              <a:rPr lang="en-US" sz="1555" dirty="0" smtClean="0">
                <a:latin typeface="Times New Roman" panose="02020603050405020304" charset="0"/>
                <a:cs typeface="Times New Roman" panose="02020603050405020304" charset="0"/>
              </a:rPr>
              <a:t>The aim of this project is to build a VGG16(CNN) model to analyze the images of damaged vehicles, computer vision model that can detect the area of damage on a car and estimate the cost for insurance claims.</a:t>
            </a:r>
            <a:endParaRPr lang="en-US" sz="1555" dirty="0" smtClean="0">
              <a:latin typeface="Times New Roman" panose="02020603050405020304" charset="0"/>
              <a:cs typeface="Times New Roman" panose="02020603050405020304" charset="0"/>
            </a:endParaRPr>
          </a:p>
          <a:p>
            <a:pPr algn="just">
              <a:lnSpc>
                <a:spcPct val="150000"/>
              </a:lnSpc>
            </a:pPr>
            <a:endParaRPr lang="en-US" sz="1555" dirty="0" smtClean="0">
              <a:latin typeface="Times New Roman" panose="02020603050405020304" charset="0"/>
              <a:cs typeface="Times New Roman" panose="02020603050405020304" charset="0"/>
            </a:endParaRPr>
          </a:p>
          <a:p>
            <a:pPr algn="just">
              <a:lnSpc>
                <a:spcPct val="150000"/>
              </a:lnSpc>
              <a:buNone/>
            </a:pPr>
            <a:endParaRPr lang="en-US" sz="1555" dirty="0" smtClean="0">
              <a:latin typeface="Times New Roman" panose="02020603050405020304" charset="0"/>
              <a:cs typeface="Times New Roman" panose="02020603050405020304" charset="0"/>
            </a:endParaRPr>
          </a:p>
          <a:p>
            <a:endParaRPr lang="en-US" sz="2000" dirty="0" smtClean="0"/>
          </a:p>
          <a:p>
            <a:pPr>
              <a:buNone/>
            </a:pPr>
            <a:endParaRPr lang="en-IN" sz="2000" dirty="0" smtClean="0"/>
          </a:p>
          <a:p>
            <a:pPr>
              <a:buNone/>
            </a:pPr>
            <a:endParaRPr lang="en-US" sz="2000" dirty="0" smtClean="0"/>
          </a:p>
        </p:txBody>
      </p:sp>
      <p:sp>
        <p:nvSpPr>
          <p:cNvPr id="2" name="Title 1"/>
          <p:cNvSpPr>
            <a:spLocks noGrp="1"/>
          </p:cNvSpPr>
          <p:nvPr>
            <p:ph type="title"/>
          </p:nvPr>
        </p:nvSpPr>
        <p:spPr/>
        <p:txBody>
          <a:bodyPr>
            <a:normAutofit/>
          </a:bodyPr>
          <a:lstStyle/>
          <a:p>
            <a:r>
              <a:rPr lang="en-IN" b="1" dirty="0" smtClean="0">
                <a:latin typeface="Times New Roman" panose="02020603050405020304" charset="0"/>
                <a:cs typeface="Times New Roman" panose="02020603050405020304" charset="0"/>
              </a:rPr>
              <a:t>ABSTRACT</a:t>
            </a:r>
            <a:endParaRPr lang="en-US" b="1" dirty="0">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8615" y="2248347"/>
            <a:ext cx="7986138" cy="4344958"/>
          </a:xfrm>
        </p:spPr>
        <p:txBody>
          <a:bodyPr>
            <a:noAutofit/>
          </a:bodyPr>
          <a:lstStyle/>
          <a:p>
            <a:pPr algn="just">
              <a:lnSpc>
                <a:spcPct val="150000"/>
              </a:lnSpc>
            </a:pPr>
            <a:r>
              <a:rPr lang="en-US" sz="1600" dirty="0" smtClean="0">
                <a:latin typeface="Times New Roman" panose="02020603050405020304" charset="0"/>
                <a:cs typeface="Times New Roman" panose="02020603050405020304" charset="0"/>
              </a:rPr>
              <a:t>Processing claims for identifying and classifying automotive damages is time consuming as well as costly for insurance providers. Furthermore, poor decision-making, fraud, and processing cost insurance firms millions of dollars. As a result, they are the first to invest in AI (Artificial Intelligence), increased automation, and other technologies.</a:t>
            </a:r>
            <a:endParaRPr lang="en-US" sz="1600" dirty="0" smtClean="0">
              <a:latin typeface="Times New Roman" panose="02020603050405020304" charset="0"/>
              <a:cs typeface="Times New Roman" panose="02020603050405020304" charset="0"/>
            </a:endParaRPr>
          </a:p>
          <a:p>
            <a:pPr algn="just">
              <a:lnSpc>
                <a:spcPct val="150000"/>
              </a:lnSpc>
            </a:pPr>
            <a:r>
              <a:rPr lang="en-US" sz="1600" dirty="0" smtClean="0">
                <a:latin typeface="Times New Roman" panose="02020603050405020304" charset="0"/>
                <a:cs typeface="Times New Roman" panose="02020603050405020304" charset="0"/>
              </a:rPr>
              <a:t>Car insurance companies spend millions of dollars each year due to escaping of insurance claims in today's society where the number of car accidents is on the rise.</a:t>
            </a:r>
            <a:endParaRPr lang="en-US" sz="1600" dirty="0" smtClean="0">
              <a:latin typeface="Times New Roman" panose="02020603050405020304" charset="0"/>
              <a:cs typeface="Times New Roman" panose="02020603050405020304" charset="0"/>
            </a:endParaRPr>
          </a:p>
          <a:p>
            <a:pPr algn="just">
              <a:lnSpc>
                <a:spcPct val="150000"/>
              </a:lnSpc>
            </a:pPr>
            <a:r>
              <a:rPr lang="en-US" sz="1600" dirty="0" smtClean="0">
                <a:latin typeface="Times New Roman" panose="02020603050405020304" charset="0"/>
                <a:cs typeface="Times New Roman" panose="02020603050405020304" charset="0"/>
              </a:rPr>
              <a:t> In the insurance industry, Artificial intelligence (AI) based on machine learning and deep learning can assist with challenges including data analysis and processing, fraud detection, risk reduction, and claim automation. As a result, insurance companies have sought to reduce the time it takes to analyze damage and settle claims.</a:t>
            </a:r>
            <a:endParaRPr lang="en-US" sz="1600" dirty="0" smtClean="0">
              <a:latin typeface="Times New Roman" panose="02020603050405020304" charset="0"/>
              <a:cs typeface="Times New Roman" panose="02020603050405020304" charset="0"/>
            </a:endParaRPr>
          </a:p>
          <a:p>
            <a:pPr algn="just"/>
            <a:endParaRPr lang="en-US" sz="1600" dirty="0" smtClean="0">
              <a:latin typeface="Times New Roman" panose="02020603050405020304" charset="0"/>
              <a:cs typeface="Times New Roman" panose="02020603050405020304" charset="0"/>
            </a:endParaRPr>
          </a:p>
        </p:txBody>
      </p:sp>
      <p:sp>
        <p:nvSpPr>
          <p:cNvPr id="2" name="Title 1"/>
          <p:cNvSpPr>
            <a:spLocks noGrp="1"/>
          </p:cNvSpPr>
          <p:nvPr>
            <p:ph type="title"/>
          </p:nvPr>
        </p:nvSpPr>
        <p:spPr>
          <a:xfrm>
            <a:off x="688490" y="506896"/>
            <a:ext cx="7756263" cy="1043607"/>
          </a:xfrm>
        </p:spPr>
        <p:txBody>
          <a:bodyPr>
            <a:normAutofit/>
          </a:bodyPr>
          <a:lstStyle/>
          <a:p>
            <a:r>
              <a:rPr lang="en-IN" b="1" dirty="0" smtClean="0">
                <a:latin typeface="Times New Roman" panose="02020603050405020304" charset="0"/>
                <a:cs typeface="Times New Roman" panose="02020603050405020304" charset="0"/>
              </a:rPr>
              <a:t>INTRODUCTION</a:t>
            </a:r>
            <a:endParaRPr lang="en-US" b="1" dirty="0">
              <a:latin typeface="Times New Roman" panose="02020603050405020304" charset="0"/>
              <a:cs typeface="Times New Roman" panose="02020603050405020304" charset="0"/>
            </a:endParaRPr>
          </a:p>
        </p:txBody>
      </p:sp>
      <p:sp>
        <p:nvSpPr>
          <p:cNvPr id="6" name="Rectangle 5"/>
          <p:cNvSpPr/>
          <p:nvPr/>
        </p:nvSpPr>
        <p:spPr>
          <a:xfrm>
            <a:off x="2286000" y="2367171"/>
            <a:ext cx="4572000" cy="608115"/>
          </a:xfrm>
          <a:prstGeom prst="rect">
            <a:avLst/>
          </a:prstGeom>
        </p:spPr>
        <p:txBody>
          <a:bodyPr>
            <a:spAutoFit/>
          </a:bodyPr>
          <a:lstStyle/>
          <a:p>
            <a:pPr algn="ctr">
              <a:lnSpc>
                <a:spcPct val="150000"/>
              </a:lnSpc>
            </a:pPr>
            <a:br>
              <a:rPr lang="en-IN" altLang="en-US" sz="800" dirty="0" smtClean="0">
                <a:cs typeface="Times New Roman" panose="02020603050405020304" charset="0"/>
              </a:rPr>
            </a:br>
            <a:endParaRPr lang="en-IN" altLang="en-US" sz="1600" dirty="0">
              <a:latin typeface="Calibri Light" panose="020F030202020403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smtClean="0">
                <a:latin typeface="Times New Roman" panose="02020603050405020304" charset="0"/>
                <a:cs typeface="Times New Roman" panose="02020603050405020304" charset="0"/>
              </a:rPr>
              <a:t>PROBLEM STATEMENT</a:t>
            </a:r>
            <a:endParaRPr lang="en-US" dirty="0">
              <a:latin typeface="Times New Roman" panose="02020603050405020304" charset="0"/>
              <a:cs typeface="Times New Roman" panose="02020603050405020304" charset="0"/>
            </a:endParaRPr>
          </a:p>
        </p:txBody>
      </p:sp>
      <p:sp>
        <p:nvSpPr>
          <p:cNvPr id="4" name="Content Placeholder 3"/>
          <p:cNvSpPr>
            <a:spLocks noGrp="1"/>
          </p:cNvSpPr>
          <p:nvPr>
            <p:ph idx="1"/>
          </p:nvPr>
        </p:nvSpPr>
        <p:spPr>
          <a:xfrm>
            <a:off x="699247" y="2484783"/>
            <a:ext cx="7745505" cy="3641379"/>
          </a:xfrm>
        </p:spPr>
        <p:txBody>
          <a:bodyPr>
            <a:noAutofit/>
          </a:bodyPr>
          <a:lstStyle/>
          <a:p>
            <a:pPr algn="just">
              <a:lnSpc>
                <a:spcPct val="150000"/>
              </a:lnSpc>
            </a:pPr>
            <a:r>
              <a:rPr lang="en-US" sz="1900" dirty="0" smtClean="0">
                <a:latin typeface="Times New Roman" panose="02020603050405020304" charset="0"/>
                <a:cs typeface="Times New Roman" panose="02020603050405020304" charset="0"/>
              </a:rPr>
              <a:t> </a:t>
            </a:r>
            <a:r>
              <a:rPr lang="en-US" sz="2000" dirty="0" smtClean="0">
                <a:latin typeface="Times New Roman" panose="02020603050405020304" charset="0"/>
                <a:cs typeface="Times New Roman" panose="02020603050405020304" charset="0"/>
              </a:rPr>
              <a:t>The car insurance industry faces significant financial losses due to claims leakage, </a:t>
            </a:r>
            <a:r>
              <a:rPr lang="en-US" sz="2000" dirty="0">
                <a:latin typeface="Times New Roman" panose="02020603050405020304" charset="0"/>
                <a:cs typeface="Times New Roman" panose="02020603050405020304" charset="0"/>
              </a:rPr>
              <a:t>arising from difference between actual and expected claim payments. Traditional</a:t>
            </a:r>
            <a:r>
              <a:rPr lang="en-US" sz="2000" dirty="0">
                <a:latin typeface="Times New Roman" panose="02020603050405020304" charset="0"/>
                <a:cs typeface="Times New Roman" panose="02020603050405020304" charset="0"/>
              </a:rPr>
              <a:t> methods of visual examination and testing for vehicle damage assessment and cost estimation are time-consuming, error-prone, and contribute to delays in claims processing. To overcome these challenges, there is a critical need for a streamlined, efficient, and accurate solution leveraging the power of artificial intelligence (AI) in the form of computer vision and machine learning.</a:t>
            </a:r>
            <a:endParaRPr lang="en-US" sz="2000" dirty="0">
              <a:latin typeface="Times New Roman" panose="02020603050405020304" charset="0"/>
              <a:cs typeface="Times New Roman" panose="0202060305040502030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2387" y="2127183"/>
            <a:ext cx="8325853" cy="4456497"/>
          </a:xfrm>
        </p:spPr>
        <p:txBody>
          <a:bodyPr>
            <a:normAutofit/>
          </a:bodyPr>
          <a:lstStyle/>
          <a:p>
            <a:pPr algn="just">
              <a:lnSpc>
                <a:spcPct val="150000"/>
              </a:lnSpc>
            </a:pPr>
            <a:r>
              <a:rPr lang="en-US" sz="1800" dirty="0" smtClean="0">
                <a:latin typeface="Times New Roman" panose="02020603050405020304" charset="0"/>
                <a:cs typeface="Times New Roman" panose="02020603050405020304" charset="0"/>
              </a:rPr>
              <a:t>The current system for assessing vehicle damage and estimating insurance claim costs relies heavily on manual processes, which are slow, subjective, and prone to errors. This method involves a lot of paperwork, causing delays in settling claims.</a:t>
            </a:r>
            <a:endParaRPr lang="en-US" sz="1800" dirty="0" smtClean="0">
              <a:latin typeface="Times New Roman" panose="02020603050405020304" charset="0"/>
              <a:cs typeface="Times New Roman" panose="02020603050405020304" charset="0"/>
            </a:endParaRPr>
          </a:p>
          <a:p>
            <a:pPr algn="just">
              <a:lnSpc>
                <a:spcPct val="150000"/>
              </a:lnSpc>
            </a:pPr>
            <a:r>
              <a:rPr lang="en-US" altLang="en-US" sz="1800" dirty="0" smtClean="0">
                <a:solidFill>
                  <a:srgbClr val="000000"/>
                </a:solidFill>
                <a:latin typeface="Times New Roman" panose="02020603050405020304" charset="0"/>
                <a:cs typeface="Times New Roman" panose="02020603050405020304" charset="0"/>
              </a:rPr>
              <a:t>Existing systems have used complex multiple  techniques </a:t>
            </a:r>
            <a:r>
              <a:rPr lang="en-US" sz="1800" dirty="0" smtClean="0">
                <a:latin typeface="Times New Roman" panose="02020603050405020304" charset="0"/>
                <a:cs typeface="Times New Roman" panose="02020603050405020304" charset="0"/>
              </a:rPr>
              <a:t>like machine learning, including convolutional neural networks (CNNs), for automatic damage detection in vehicle images. Natural language processing (NLP) algorithms help analyze text in claims documents, extracting key details to estimate costs.</a:t>
            </a:r>
            <a:endParaRPr lang="en-US" sz="1800" dirty="0" smtClean="0">
              <a:latin typeface="Times New Roman" panose="02020603050405020304" charset="0"/>
              <a:cs typeface="Times New Roman" panose="02020603050405020304" charset="0"/>
            </a:endParaRPr>
          </a:p>
          <a:p>
            <a:pPr algn="just">
              <a:lnSpc>
                <a:spcPct val="150000"/>
              </a:lnSpc>
            </a:pPr>
            <a:r>
              <a:rPr lang="en-US" sz="1800" dirty="0" smtClean="0">
                <a:latin typeface="Times New Roman" panose="02020603050405020304" charset="0"/>
                <a:cs typeface="Times New Roman" panose="02020603050405020304" charset="0"/>
              </a:rPr>
              <a:t>Predictive analytics using historical claims data aids in fraud prevention, streamlining the vehicle damage assessment process and providing accurate cost estimates for insurers and policyholders.</a:t>
            </a:r>
            <a:endParaRPr lang="en-US" sz="1800" dirty="0" smtClean="0">
              <a:latin typeface="Times New Roman" panose="02020603050405020304" charset="0"/>
              <a:cs typeface="Times New Roman" panose="02020603050405020304" charset="0"/>
            </a:endParaRPr>
          </a:p>
          <a:p>
            <a:pPr>
              <a:lnSpc>
                <a:spcPct val="150000"/>
              </a:lnSpc>
              <a:buNone/>
            </a:pPr>
            <a:endParaRPr lang="en-US" sz="1800" dirty="0" smtClean="0"/>
          </a:p>
          <a:p>
            <a:pPr>
              <a:buNone/>
            </a:pPr>
            <a:endParaRPr lang="en-US" sz="1800" dirty="0"/>
          </a:p>
          <a:p>
            <a:pPr lvl="0"/>
            <a:endParaRPr dirty="0"/>
          </a:p>
        </p:txBody>
      </p:sp>
      <p:sp>
        <p:nvSpPr>
          <p:cNvPr id="2" name="Title 1"/>
          <p:cNvSpPr>
            <a:spLocks noGrp="1"/>
          </p:cNvSpPr>
          <p:nvPr>
            <p:ph type="title"/>
          </p:nvPr>
        </p:nvSpPr>
        <p:spPr>
          <a:xfrm>
            <a:off x="688490" y="702644"/>
            <a:ext cx="7756263" cy="904774"/>
          </a:xfrm>
        </p:spPr>
        <p:txBody>
          <a:bodyPr>
            <a:noAutofit/>
          </a:bodyPr>
          <a:lstStyle/>
          <a:p>
            <a:r>
              <a:rPr lang="en-IN" altLang="en-US" b="1" dirty="0" smtClean="0">
                <a:latin typeface="Times New Roman" panose="02020603050405020304" charset="0"/>
                <a:cs typeface="Times New Roman" panose="02020603050405020304" charset="0"/>
              </a:rPr>
              <a:t>EXISTING SYSTEM</a:t>
            </a:r>
            <a:endParaRPr lang="en-US" b="1" dirty="0">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6105" y="2248347"/>
            <a:ext cx="7523922" cy="4181329"/>
          </a:xfrm>
        </p:spPr>
        <p:txBody>
          <a:bodyPr>
            <a:noAutofit/>
          </a:bodyPr>
          <a:lstStyle/>
          <a:p>
            <a:pPr>
              <a:buNone/>
            </a:pPr>
            <a:endParaRPr lang="en-IN" sz="1600" dirty="0" smtClean="0">
              <a:solidFill>
                <a:srgbClr val="000000"/>
              </a:solidFill>
              <a:latin typeface="Times New Roman" panose="02020603050405020304" charset="0"/>
              <a:cs typeface="Times New Roman" panose="02020603050405020304" charset="0"/>
            </a:endParaRPr>
          </a:p>
          <a:p>
            <a:pPr algn="just">
              <a:lnSpc>
                <a:spcPct val="150000"/>
              </a:lnSpc>
            </a:pPr>
            <a:r>
              <a:rPr lang="en-US" sz="2000" dirty="0" smtClean="0">
                <a:latin typeface="Times New Roman" panose="02020603050405020304" charset="0"/>
                <a:cs typeface="Times New Roman" panose="02020603050405020304" charset="0"/>
              </a:rPr>
              <a:t>AI-powered system capable of detecting and assessing damaged areas on cars, using a VGG16 model based on convolutional neural network (CNN)to autonomously detect car damage in images  to enable insurance companies to expedite claims processing by allowing users to upload images for automated damage assessment and cost estimation.</a:t>
            </a:r>
            <a:r>
              <a:rPr lang="en-IN" sz="2000" i="1" dirty="0" smtClean="0">
                <a:solidFill>
                  <a:srgbClr val="000000"/>
                </a:solidFill>
                <a:latin typeface="Times New Roman" panose="02020603050405020304" charset="0"/>
                <a:ea typeface="Times New Roman" panose="02020603050405020304" charset="0"/>
                <a:cs typeface="Times New Roman" panose="02020603050405020304" charset="0"/>
              </a:rPr>
              <a:t>  </a:t>
            </a:r>
            <a:endParaRPr lang="en-IN" sz="2000" dirty="0" smtClean="0">
              <a:latin typeface="Times New Roman" panose="02020603050405020304" charset="0"/>
              <a:ea typeface="Times New Roman" panose="02020603050405020304" charset="0"/>
              <a:cs typeface="Times New Roman" panose="02020603050405020304" charset="0"/>
            </a:endParaRPr>
          </a:p>
          <a:p>
            <a:pPr>
              <a:lnSpc>
                <a:spcPct val="150000"/>
              </a:lnSpc>
              <a:buNone/>
            </a:pPr>
            <a:endParaRPr lang="en-US" sz="2000" dirty="0">
              <a:latin typeface="Times New Roman" panose="02020603050405020304" charset="0"/>
              <a:cs typeface="Times New Roman" panose="02020603050405020304" charset="0"/>
            </a:endParaRPr>
          </a:p>
        </p:txBody>
      </p:sp>
      <p:sp>
        <p:nvSpPr>
          <p:cNvPr id="2" name="Title 1"/>
          <p:cNvSpPr>
            <a:spLocks noGrp="1"/>
          </p:cNvSpPr>
          <p:nvPr>
            <p:ph type="title"/>
          </p:nvPr>
        </p:nvSpPr>
        <p:spPr>
          <a:xfrm>
            <a:off x="144380" y="570156"/>
            <a:ext cx="8701238" cy="1054250"/>
          </a:xfrm>
        </p:spPr>
        <p:txBody>
          <a:bodyPr>
            <a:normAutofit/>
          </a:bodyPr>
          <a:lstStyle/>
          <a:p>
            <a:r>
              <a:rPr lang="en-IN" altLang="en-US" b="1" dirty="0" smtClean="0">
                <a:latin typeface="Times New Roman" panose="02020603050405020304" charset="0"/>
                <a:cs typeface="Times New Roman" panose="02020603050405020304" charset="0"/>
              </a:rPr>
              <a:t>PROPOSED SYSTEM</a:t>
            </a:r>
            <a:endParaRPr lang="en-US" b="1" dirty="0">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altLang="en-US" sz="4000" b="1" dirty="0" smtClean="0">
                <a:latin typeface="Times New Roman" panose="02020603050405020304" charset="0"/>
                <a:cs typeface="Times New Roman" panose="02020603050405020304" charset="0"/>
              </a:rPr>
              <a:t>SOFTWARE REQUIREMENTS</a:t>
            </a:r>
            <a:endParaRPr lang="en-US" sz="4000" dirty="0">
              <a:latin typeface="Times New Roman" panose="02020603050405020304" charset="0"/>
              <a:cs typeface="Times New Roman" panose="02020603050405020304" charset="0"/>
            </a:endParaRPr>
          </a:p>
        </p:txBody>
      </p:sp>
      <p:sp>
        <p:nvSpPr>
          <p:cNvPr id="4" name="Content Placeholder 3"/>
          <p:cNvSpPr>
            <a:spLocks noGrp="1"/>
          </p:cNvSpPr>
          <p:nvPr>
            <p:ph idx="1"/>
          </p:nvPr>
        </p:nvSpPr>
        <p:spPr>
          <a:xfrm>
            <a:off x="699247" y="2248347"/>
            <a:ext cx="7745505" cy="1359557"/>
          </a:xfrm>
        </p:spPr>
        <p:txBody>
          <a:bodyPr>
            <a:normAutofit/>
          </a:bodyPr>
          <a:lstStyle/>
          <a:p>
            <a:pPr algn="just"/>
            <a:r>
              <a:rPr lang="en-GB" sz="1800" dirty="0" smtClean="0">
                <a:latin typeface="Times New Roman" panose="02020603050405020304" charset="0"/>
                <a:ea typeface="Times New Roman" panose="02020603050405020304" charset="0"/>
                <a:cs typeface="Times New Roman" panose="02020603050405020304" charset="0"/>
              </a:rPr>
              <a:t>Google Colab</a:t>
            </a:r>
            <a:r>
              <a:rPr lang="en-IN" sz="1800" dirty="0" smtClean="0">
                <a:latin typeface="Times New Roman" panose="02020603050405020304" charset="0"/>
                <a:ea typeface="Times New Roman" panose="02020603050405020304" charset="0"/>
                <a:cs typeface="Times New Roman" panose="02020603050405020304" charset="0"/>
              </a:rPr>
              <a:t>, VS CODE – Python(3)</a:t>
            </a:r>
            <a:endParaRPr lang="en-IN" sz="1800" dirty="0" smtClean="0">
              <a:latin typeface="Times New Roman" panose="02020603050405020304" charset="0"/>
              <a:ea typeface="Times New Roman" panose="02020603050405020304" charset="0"/>
              <a:cs typeface="Times New Roman" panose="02020603050405020304" charset="0"/>
            </a:endParaRPr>
          </a:p>
          <a:p>
            <a:pPr algn="just"/>
            <a:r>
              <a:rPr lang="en-US" sz="1800" dirty="0" smtClean="0">
                <a:latin typeface="Times New Roman" panose="02020603050405020304" charset="0"/>
                <a:cs typeface="Times New Roman" panose="02020603050405020304" charset="0"/>
              </a:rPr>
              <a:t>Libraries used:</a:t>
            </a:r>
            <a:endParaRPr lang="en-US" sz="1800" dirty="0" smtClean="0">
              <a:latin typeface="Times New Roman" panose="02020603050405020304" charset="0"/>
              <a:cs typeface="Times New Roman" panose="02020603050405020304" charset="0"/>
            </a:endParaRPr>
          </a:p>
          <a:p>
            <a:pPr algn="just"/>
            <a:r>
              <a:rPr lang="en-US" sz="1800" dirty="0" smtClean="0">
                <a:latin typeface="Times New Roman" panose="02020603050405020304" charset="0"/>
                <a:cs typeface="Times New Roman" panose="02020603050405020304" charset="0"/>
              </a:rPr>
              <a:t>Numpy, Pandas, Scikit learn, Keras </a:t>
            </a:r>
            <a:endParaRPr lang="en-US" sz="1800" dirty="0" smtClean="0">
              <a:latin typeface="Times New Roman" panose="02020603050405020304" charset="0"/>
              <a:cs typeface="Times New Roman" panose="02020603050405020304" charset="0"/>
            </a:endParaRPr>
          </a:p>
          <a:p>
            <a:pPr>
              <a:buNone/>
            </a:pPr>
            <a:endParaRPr lang="en-US" dirty="0"/>
          </a:p>
        </p:txBody>
      </p:sp>
      <p:sp>
        <p:nvSpPr>
          <p:cNvPr id="5" name="Title 1"/>
          <p:cNvSpPr txBox="1"/>
          <p:nvPr/>
        </p:nvSpPr>
        <p:spPr>
          <a:xfrm>
            <a:off x="840890" y="3756992"/>
            <a:ext cx="7756263" cy="894522"/>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lang="en-IN" altLang="en-US" sz="4000" b="1" dirty="0" smtClean="0">
                <a:solidFill>
                  <a:schemeClr val="tx2"/>
                </a:solidFill>
                <a:latin typeface="Times New Roman" panose="02020603050405020304" charset="0"/>
                <a:ea typeface="+mj-ea"/>
                <a:cs typeface="Times New Roman" panose="02020603050405020304" charset="0"/>
              </a:rPr>
              <a:t>HARD</a:t>
            </a:r>
            <a:r>
              <a:rPr kumimoji="0" lang="en-IN" altLang="en-US" sz="4000" b="1" i="0" u="none" strike="noStrike" kern="1200" cap="none" spc="0" normalizeH="0" baseline="0" noProof="0" dirty="0" smtClean="0">
                <a:ln>
                  <a:noFill/>
                </a:ln>
                <a:solidFill>
                  <a:schemeClr val="tx2"/>
                </a:solidFill>
                <a:effectLst/>
                <a:uLnTx/>
                <a:uFillTx/>
                <a:latin typeface="Times New Roman" panose="02020603050405020304" charset="0"/>
                <a:ea typeface="+mj-ea"/>
                <a:cs typeface="Times New Roman" panose="02020603050405020304" charset="0"/>
              </a:rPr>
              <a:t>WARE REQUIREMENTS</a:t>
            </a:r>
            <a:endParaRPr kumimoji="0" lang="en-US" sz="4000" b="0" i="0" u="none" strike="noStrike" kern="1200" cap="none" spc="0" normalizeH="0" baseline="0" noProof="0" dirty="0">
              <a:ln>
                <a:noFill/>
              </a:ln>
              <a:solidFill>
                <a:schemeClr val="tx2"/>
              </a:solidFill>
              <a:effectLst/>
              <a:uLnTx/>
              <a:uFillTx/>
              <a:latin typeface="Times New Roman" panose="02020603050405020304" charset="0"/>
              <a:ea typeface="+mj-ea"/>
              <a:cs typeface="Times New Roman" panose="02020603050405020304" charset="0"/>
            </a:endParaRPr>
          </a:p>
        </p:txBody>
      </p:sp>
      <p:sp>
        <p:nvSpPr>
          <p:cNvPr id="6" name="Content Placeholder 3"/>
          <p:cNvSpPr txBox="1"/>
          <p:nvPr/>
        </p:nvSpPr>
        <p:spPr>
          <a:xfrm>
            <a:off x="851647" y="4830417"/>
            <a:ext cx="7745505" cy="1470992"/>
          </a:xfrm>
          <a:prstGeom prst="rect">
            <a:avLst/>
          </a:prstGeom>
        </p:spPr>
        <p:txBody>
          <a:bodyPr vert="horz" lIns="91440" tIns="45720" rIns="91440" bIns="45720" rtlCol="0">
            <a:normAutofit/>
          </a:bodyPr>
          <a:lstStyle/>
          <a:p>
            <a:pPr marL="365760" marR="0" lvl="0" indent="-365760" algn="l" defTabSz="914400" rtl="0" eaLnBrk="1" fontAlgn="auto" latinLnBrk="0" hangingPunct="1">
              <a:lnSpc>
                <a:spcPct val="100000"/>
              </a:lnSpc>
              <a:spcBef>
                <a:spcPct val="20000"/>
              </a:spcBef>
              <a:spcAft>
                <a:spcPts val="0"/>
              </a:spcAft>
              <a:buClr>
                <a:schemeClr val="accent1"/>
              </a:buClr>
              <a:buSzTx/>
              <a:buFont typeface="Arial" panose="020B0604020202020204" pitchFamily="34" charset="0"/>
              <a:buChar char="•"/>
              <a:defRPr/>
            </a:pPr>
            <a:endParaRPr kumimoji="0" lang="en-US" sz="2400" b="0" i="0" u="none" strike="noStrike" kern="1200" cap="none" spc="0" normalizeH="0" baseline="0" noProof="0" dirty="0">
              <a:ln>
                <a:noFill/>
              </a:ln>
              <a:solidFill>
                <a:schemeClr val="tx1">
                  <a:lumMod val="85000"/>
                  <a:lumOff val="15000"/>
                </a:schemeClr>
              </a:solidFill>
              <a:effectLst/>
              <a:uLnTx/>
              <a:uFillTx/>
              <a:latin typeface="+mn-lt"/>
              <a:ea typeface="+mn-ea"/>
              <a:cs typeface="+mn-cs"/>
            </a:endParaRPr>
          </a:p>
        </p:txBody>
      </p:sp>
      <p:sp>
        <p:nvSpPr>
          <p:cNvPr id="7" name="Content Placeholder 3"/>
          <p:cNvSpPr txBox="1"/>
          <p:nvPr/>
        </p:nvSpPr>
        <p:spPr>
          <a:xfrm>
            <a:off x="699247" y="4651514"/>
            <a:ext cx="7897906" cy="1461051"/>
          </a:xfrm>
          <a:prstGeom prst="rect">
            <a:avLst/>
          </a:prstGeom>
        </p:spPr>
        <p:txBody>
          <a:bodyPr vert="horz" lIns="91440" tIns="45720" rIns="91440" bIns="45720" rtlCol="0">
            <a:normAutofit/>
          </a:bodyPr>
          <a:lstStyle/>
          <a:p>
            <a:pPr marL="365760" indent="-365760" algn="just" defTabSz="914400">
              <a:spcBef>
                <a:spcPct val="20000"/>
              </a:spcBef>
              <a:buClr>
                <a:schemeClr val="accent1"/>
              </a:buClr>
              <a:buFont typeface="Wingdings" panose="05000000000000000000" pitchFamily="2" charset="2"/>
              <a:buChar char=""/>
            </a:pPr>
            <a:r>
              <a:rPr lang="en-US" altLang="en-US" dirty="0" smtClean="0">
                <a:latin typeface="Times New Roman" panose="02020603050405020304" charset="0"/>
                <a:cs typeface="Times New Roman" panose="02020603050405020304" charset="0"/>
              </a:rPr>
              <a:t>Operating System –Microsoft Windows 7/8/10 (32 or 64 bit) with (min) i5, i7 Processor. </a:t>
            </a:r>
            <a:endParaRPr lang="en-US" altLang="en-US" dirty="0" smtClean="0">
              <a:latin typeface="Times New Roman" panose="02020603050405020304" charset="0"/>
              <a:cs typeface="Times New Roman" panose="02020603050405020304" charset="0"/>
            </a:endParaRPr>
          </a:p>
          <a:p>
            <a:pPr marL="365760" indent="-365760" algn="just" defTabSz="914400">
              <a:spcBef>
                <a:spcPct val="20000"/>
              </a:spcBef>
              <a:buClr>
                <a:schemeClr val="accent1"/>
              </a:buClr>
              <a:buFont typeface="Wingdings" panose="05000000000000000000" pitchFamily="2" charset="2"/>
              <a:buChar char=""/>
            </a:pPr>
            <a:r>
              <a:rPr lang="en-US" altLang="en-US" dirty="0" smtClean="0">
                <a:latin typeface="Times New Roman" panose="02020603050405020304" charset="0"/>
                <a:cs typeface="Times New Roman" panose="02020603050405020304" charset="0"/>
              </a:rPr>
              <a:t>RAM – 4GB(min),8 GB recommended memory.</a:t>
            </a:r>
            <a:endParaRPr lang="en-US" altLang="en-US" dirty="0" smtClean="0">
              <a:latin typeface="Times New Roman" panose="02020603050405020304" charset="0"/>
              <a:cs typeface="Times New Roman" panose="02020603050405020304" charset="0"/>
            </a:endParaRPr>
          </a:p>
          <a:p>
            <a:pPr marL="365760" indent="-365760" algn="just" defTabSz="914400">
              <a:spcBef>
                <a:spcPct val="20000"/>
              </a:spcBef>
              <a:buClr>
                <a:schemeClr val="accent1"/>
              </a:buClr>
              <a:buFont typeface="Wingdings" panose="05000000000000000000" pitchFamily="2" charset="2"/>
              <a:buChar char=""/>
            </a:pPr>
            <a:r>
              <a:rPr lang="en-US" altLang="en-US" dirty="0" smtClean="0">
                <a:latin typeface="Times New Roman" panose="02020603050405020304" charset="0"/>
                <a:cs typeface="Times New Roman" panose="02020603050405020304" charset="0"/>
              </a:rPr>
              <a:t>Disk space: Internal Storage – 8GB(min)</a:t>
            </a:r>
            <a:endParaRPr lang="en-IN" altLang="en-US" dirty="0" smtClean="0">
              <a:latin typeface="Times New Roman" panose="02020603050405020304" charset="0"/>
              <a:cs typeface="Times New Roman" panose="02020603050405020304" charset="0"/>
            </a:endParaRPr>
          </a:p>
          <a:p>
            <a:pPr marL="365760" indent="-365760" defTabSz="914400">
              <a:spcBef>
                <a:spcPct val="20000"/>
              </a:spcBef>
              <a:buClr>
                <a:schemeClr val="accent1"/>
              </a:buClr>
            </a:pPr>
            <a:endParaRPr lang="en-IN" altLang="en-US" dirty="0" smtClean="0">
              <a:latin typeface="Times New Roman" panose="02020603050405020304" charset="0"/>
              <a:cs typeface="Times New Roman" panose="02020603050405020304" charset="0"/>
            </a:endParaRPr>
          </a:p>
          <a:p>
            <a:pPr marL="365760" marR="0" lvl="0" indent="-365760" algn="l" defTabSz="914400" rtl="0" eaLnBrk="1" fontAlgn="auto" latinLnBrk="0" hangingPunct="1">
              <a:lnSpc>
                <a:spcPct val="100000"/>
              </a:lnSpc>
              <a:spcBef>
                <a:spcPct val="20000"/>
              </a:spcBef>
              <a:spcAft>
                <a:spcPts val="0"/>
              </a:spcAft>
              <a:buClr>
                <a:schemeClr val="accent1"/>
              </a:buClr>
              <a:buSzTx/>
              <a:buFont typeface="Wingdings" panose="05000000000000000000" pitchFamily="2" charset="2"/>
              <a:buNone/>
              <a:defRPr/>
            </a:pPr>
            <a:endParaRPr kumimoji="0" lang="en-US" sz="2400" b="0" i="0" u="none" strike="noStrike" kern="1200" cap="none" spc="0" normalizeH="0" baseline="0" noProof="0" dirty="0">
              <a:ln>
                <a:noFill/>
              </a:ln>
              <a:solidFill>
                <a:schemeClr val="tx1">
                  <a:lumMod val="85000"/>
                  <a:lumOff val="15000"/>
                </a:schemeClr>
              </a:solidFill>
              <a:effectLst/>
              <a:uLnTx/>
              <a:uFillTx/>
              <a:latin typeface="+mn-lt"/>
              <a:ea typeface="+mn-ea"/>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3512" y="2550695"/>
            <a:ext cx="8460605" cy="3575467"/>
          </a:xfrm>
        </p:spPr>
        <p:txBody>
          <a:bodyPr>
            <a:noAutofit/>
          </a:bodyPr>
          <a:lstStyle/>
          <a:p>
            <a:pPr algn="just"/>
            <a:endParaRPr lang="en-US" sz="1800" dirty="0" smtClean="0"/>
          </a:p>
          <a:p>
            <a:pPr algn="just">
              <a:buNone/>
            </a:pPr>
            <a:endParaRPr lang="en-US" sz="1800" dirty="0" smtClean="0"/>
          </a:p>
          <a:p>
            <a:pPr algn="just">
              <a:buNone/>
            </a:pPr>
            <a:endParaRPr lang="en-US" sz="1800" dirty="0"/>
          </a:p>
        </p:txBody>
      </p:sp>
      <p:sp>
        <p:nvSpPr>
          <p:cNvPr id="2" name="Title 1"/>
          <p:cNvSpPr>
            <a:spLocks noGrp="1"/>
          </p:cNvSpPr>
          <p:nvPr>
            <p:ph type="title"/>
          </p:nvPr>
        </p:nvSpPr>
        <p:spPr/>
        <p:txBody>
          <a:bodyPr>
            <a:normAutofit/>
          </a:bodyPr>
          <a:lstStyle/>
          <a:p>
            <a:r>
              <a:rPr lang="en-IN" altLang="en-US" b="1" dirty="0" smtClean="0">
                <a:latin typeface="Times New Roman" panose="02020603050405020304" charset="0"/>
                <a:cs typeface="Times New Roman" panose="02020603050405020304" charset="0"/>
              </a:rPr>
              <a:t>ARCHITECTURE</a:t>
            </a:r>
            <a:endParaRPr lang="en-US" b="1" dirty="0">
              <a:latin typeface="Times New Roman" panose="02020603050405020304" charset="0"/>
              <a:cs typeface="Times New Roman" panose="02020603050405020304" charset="0"/>
            </a:endParaRPr>
          </a:p>
        </p:txBody>
      </p:sp>
      <p:pic>
        <p:nvPicPr>
          <p:cNvPr id="4" name="Picture 3" descr="A flow chart of developing car damage assessment pipelines | Download  Scientific Diagram"/>
          <p:cNvPicPr/>
          <p:nvPr/>
        </p:nvPicPr>
        <p:blipFill>
          <a:blip r:embed="rId1" cstate="print"/>
          <a:srcRect/>
          <a:stretch>
            <a:fillRect/>
          </a:stretch>
        </p:blipFill>
        <p:spPr bwMode="auto">
          <a:xfrm>
            <a:off x="1292087" y="2550695"/>
            <a:ext cx="6689035" cy="3575467"/>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0889" y="2117559"/>
            <a:ext cx="8296976" cy="4427620"/>
          </a:xfrm>
        </p:spPr>
        <p:txBody>
          <a:bodyPr>
            <a:noAutofit/>
          </a:bodyPr>
          <a:lstStyle/>
          <a:p>
            <a:endParaRPr lang="en-US" sz="2000" dirty="0" smtClean="0"/>
          </a:p>
          <a:p>
            <a:pPr>
              <a:buNone/>
            </a:pPr>
            <a:endParaRPr lang="en-US" sz="2000" dirty="0" smtClean="0"/>
          </a:p>
          <a:p>
            <a:endParaRPr lang="en-US" sz="2000" dirty="0" smtClean="0"/>
          </a:p>
          <a:p>
            <a:endParaRPr lang="en-US" sz="1800" dirty="0"/>
          </a:p>
        </p:txBody>
      </p:sp>
      <p:sp>
        <p:nvSpPr>
          <p:cNvPr id="5" name="Title 1"/>
          <p:cNvSpPr>
            <a:spLocks noGrp="1"/>
          </p:cNvSpPr>
          <p:nvPr>
            <p:ph type="title"/>
          </p:nvPr>
        </p:nvSpPr>
        <p:spPr>
          <a:xfrm>
            <a:off x="298450" y="569913"/>
            <a:ext cx="8656638" cy="1054100"/>
          </a:xfrm>
        </p:spPr>
        <p:txBody>
          <a:bodyPr>
            <a:noAutofit/>
          </a:bodyPr>
          <a:lstStyle/>
          <a:p>
            <a:r>
              <a:rPr lang="en-IN" altLang="en-US" sz="2800" b="1" dirty="0" smtClean="0">
                <a:latin typeface="Times New Roman" panose="02020603050405020304" charset="0"/>
                <a:cs typeface="Times New Roman" panose="02020603050405020304" charset="0"/>
              </a:rPr>
              <a:t>IMPLEMENTATION RESULTS AND TEST CASES</a:t>
            </a:r>
            <a:endParaRPr lang="en-US" sz="2800" b="1" dirty="0">
              <a:latin typeface="Times New Roman" panose="02020603050405020304" charset="0"/>
              <a:cs typeface="Times New Roman" panose="02020603050405020304" charset="0"/>
            </a:endParaRPr>
          </a:p>
        </p:txBody>
      </p:sp>
      <p:pic>
        <p:nvPicPr>
          <p:cNvPr id="2" name="Picture 1" descr="Screenshot (195)"/>
          <p:cNvPicPr>
            <a:picLocks noChangeAspect="1"/>
          </p:cNvPicPr>
          <p:nvPr/>
        </p:nvPicPr>
        <p:blipFill>
          <a:blip r:embed="rId1"/>
          <a:stretch>
            <a:fillRect/>
          </a:stretch>
        </p:blipFill>
        <p:spPr>
          <a:xfrm>
            <a:off x="885190" y="2230120"/>
            <a:ext cx="7508240" cy="411670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0889" y="2117559"/>
            <a:ext cx="8296976" cy="4427620"/>
          </a:xfrm>
        </p:spPr>
        <p:txBody>
          <a:bodyPr>
            <a:noAutofit/>
          </a:bodyPr>
          <a:lstStyle/>
          <a:p>
            <a:endParaRPr lang="en-US" sz="2000" dirty="0" smtClean="0"/>
          </a:p>
          <a:p>
            <a:pPr>
              <a:buNone/>
            </a:pPr>
            <a:endParaRPr lang="en-US" sz="2000" dirty="0" smtClean="0"/>
          </a:p>
          <a:p>
            <a:endParaRPr lang="en-US" sz="2000" dirty="0" smtClean="0"/>
          </a:p>
          <a:p>
            <a:endParaRPr lang="en-US" sz="1800" dirty="0"/>
          </a:p>
        </p:txBody>
      </p:sp>
      <p:sp>
        <p:nvSpPr>
          <p:cNvPr id="5" name="Title 1"/>
          <p:cNvSpPr>
            <a:spLocks noGrp="1"/>
          </p:cNvSpPr>
          <p:nvPr>
            <p:ph type="title"/>
          </p:nvPr>
        </p:nvSpPr>
        <p:spPr>
          <a:xfrm>
            <a:off x="298450" y="569913"/>
            <a:ext cx="8656638" cy="1054100"/>
          </a:xfrm>
        </p:spPr>
        <p:txBody>
          <a:bodyPr>
            <a:noAutofit/>
          </a:bodyPr>
          <a:lstStyle/>
          <a:p>
            <a:r>
              <a:rPr lang="en-IN" altLang="en-US" sz="2800" b="1" dirty="0" smtClean="0">
                <a:latin typeface="Times New Roman" panose="02020603050405020304" charset="0"/>
                <a:cs typeface="Times New Roman" panose="02020603050405020304" charset="0"/>
              </a:rPr>
              <a:t>IMPLEMENTATION RESULTS AND TEST CASES</a:t>
            </a:r>
            <a:endParaRPr lang="en-US" sz="2800" b="1" dirty="0">
              <a:latin typeface="Times New Roman" panose="02020603050405020304" charset="0"/>
              <a:cs typeface="Times New Roman" panose="02020603050405020304" charset="0"/>
            </a:endParaRPr>
          </a:p>
        </p:txBody>
      </p:sp>
      <p:pic>
        <p:nvPicPr>
          <p:cNvPr id="4" name="Picture 3"/>
          <p:cNvPicPr>
            <a:picLocks noChangeAspect="1"/>
          </p:cNvPicPr>
          <p:nvPr/>
        </p:nvPicPr>
        <p:blipFill>
          <a:blip r:embed="rId1"/>
          <a:stretch>
            <a:fillRect/>
          </a:stretch>
        </p:blipFill>
        <p:spPr>
          <a:xfrm>
            <a:off x="932815" y="2371725"/>
            <a:ext cx="7221220" cy="41732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0889" y="2117559"/>
            <a:ext cx="8296976" cy="4427620"/>
          </a:xfrm>
        </p:spPr>
        <p:txBody>
          <a:bodyPr>
            <a:noAutofit/>
          </a:bodyPr>
          <a:lstStyle/>
          <a:p>
            <a:endParaRPr lang="en-US" sz="2000" dirty="0" smtClean="0"/>
          </a:p>
          <a:p>
            <a:pPr>
              <a:buNone/>
            </a:pPr>
            <a:endParaRPr lang="en-US" sz="2000" dirty="0" smtClean="0"/>
          </a:p>
          <a:p>
            <a:endParaRPr lang="en-US" sz="2000" dirty="0" smtClean="0"/>
          </a:p>
          <a:p>
            <a:endParaRPr lang="en-US" sz="1800" dirty="0"/>
          </a:p>
        </p:txBody>
      </p:sp>
      <p:sp>
        <p:nvSpPr>
          <p:cNvPr id="5" name="Title 1"/>
          <p:cNvSpPr>
            <a:spLocks noGrp="1"/>
          </p:cNvSpPr>
          <p:nvPr>
            <p:ph type="title"/>
          </p:nvPr>
        </p:nvSpPr>
        <p:spPr>
          <a:xfrm>
            <a:off x="298450" y="569913"/>
            <a:ext cx="8656638" cy="1054100"/>
          </a:xfrm>
        </p:spPr>
        <p:txBody>
          <a:bodyPr>
            <a:noAutofit/>
          </a:bodyPr>
          <a:lstStyle/>
          <a:p>
            <a:r>
              <a:rPr lang="en-IN" altLang="en-US" sz="2800" b="1" dirty="0" smtClean="0">
                <a:latin typeface="Times New Roman" panose="02020603050405020304" charset="0"/>
                <a:cs typeface="Times New Roman" panose="02020603050405020304" charset="0"/>
              </a:rPr>
              <a:t>IMPLEMENTATION RESULTS AND TEST CASES</a:t>
            </a:r>
            <a:endParaRPr lang="en-US" sz="2800" b="1" dirty="0">
              <a:latin typeface="Times New Roman" panose="02020603050405020304" charset="0"/>
              <a:cs typeface="Times New Roman" panose="02020603050405020304" charset="0"/>
            </a:endParaRPr>
          </a:p>
        </p:txBody>
      </p:sp>
      <p:pic>
        <p:nvPicPr>
          <p:cNvPr id="6" name="Picture 5"/>
          <p:cNvPicPr>
            <a:picLocks noChangeAspect="1"/>
          </p:cNvPicPr>
          <p:nvPr/>
        </p:nvPicPr>
        <p:blipFill>
          <a:blip r:embed="rId1"/>
          <a:stretch>
            <a:fillRect/>
          </a:stretch>
        </p:blipFill>
        <p:spPr>
          <a:xfrm>
            <a:off x="2323465" y="2902585"/>
            <a:ext cx="4257040" cy="2717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0889" y="2415209"/>
            <a:ext cx="8296976" cy="3707295"/>
          </a:xfrm>
        </p:spPr>
        <p:txBody>
          <a:bodyPr>
            <a:noAutofit/>
          </a:bodyPr>
          <a:lstStyle/>
          <a:p>
            <a:pPr algn="just">
              <a:lnSpc>
                <a:spcPct val="150000"/>
              </a:lnSpc>
            </a:pPr>
            <a:r>
              <a:rPr lang="en-US" sz="1800" dirty="0" smtClean="0">
                <a:latin typeface="Times New Roman" panose="02020603050405020304" charset="0"/>
                <a:cs typeface="Times New Roman" panose="02020603050405020304" charset="0"/>
              </a:rPr>
              <a:t>In conclusion, this project "AI-Powered Vehicle Damage Assessment and Cost Estimation for Insurance Claims" offers a transformative solution to the challenges faced by the insurance and automotive industries.</a:t>
            </a:r>
            <a:endParaRPr lang="en-US" sz="1800" dirty="0" smtClean="0">
              <a:latin typeface="Times New Roman" panose="02020603050405020304" charset="0"/>
              <a:cs typeface="Times New Roman" panose="02020603050405020304" charset="0"/>
            </a:endParaRPr>
          </a:p>
          <a:p>
            <a:pPr algn="just">
              <a:lnSpc>
                <a:spcPct val="150000"/>
              </a:lnSpc>
            </a:pPr>
            <a:r>
              <a:rPr lang="en-US" sz="1800" dirty="0" smtClean="0">
                <a:latin typeface="Times New Roman" panose="02020603050405020304" charset="0"/>
                <a:cs typeface="Times New Roman" panose="02020603050405020304" charset="0"/>
              </a:rPr>
              <a:t>The system's ability to provide fair and data_x0002_driven cost estimations not only benefits policyholders but also contributes to fraud detection and risk assessment for insurance companies.</a:t>
            </a:r>
            <a:r>
              <a:rPr lang="en-US" sz="2000" dirty="0" smtClean="0"/>
              <a:t> </a:t>
            </a:r>
            <a:endParaRPr lang="en-US" sz="2000" dirty="0" smtClean="0"/>
          </a:p>
          <a:p>
            <a:pPr algn="just">
              <a:lnSpc>
                <a:spcPct val="150000"/>
              </a:lnSpc>
            </a:pPr>
            <a:endParaRPr lang="en-US" sz="1800" dirty="0"/>
          </a:p>
        </p:txBody>
      </p:sp>
      <p:sp>
        <p:nvSpPr>
          <p:cNvPr id="2" name="Title 1"/>
          <p:cNvSpPr>
            <a:spLocks noGrp="1"/>
          </p:cNvSpPr>
          <p:nvPr>
            <p:ph type="title"/>
          </p:nvPr>
        </p:nvSpPr>
        <p:spPr/>
        <p:txBody>
          <a:bodyPr>
            <a:noAutofit/>
          </a:bodyPr>
          <a:lstStyle/>
          <a:p>
            <a:r>
              <a:rPr lang="en-US" b="1" dirty="0" smtClean="0">
                <a:latin typeface="Times New Roman" panose="02020603050405020304" charset="0"/>
                <a:cs typeface="Times New Roman" panose="02020603050405020304" charset="0"/>
              </a:rPr>
              <a:t>CONCLUSION</a:t>
            </a:r>
            <a:endParaRPr lang="en-US" b="1" dirty="0">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http://good-wallpapers.com/pictures/3821/thank-you_wallpaper.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image" Target="../media/image2.jpeg"/></Relationships>
</file>

<file path=ppt/theme/theme1.xml><?xml version="1.0" encoding="utf-8"?>
<a:theme xmlns:a="http://schemas.openxmlformats.org/drawingml/2006/main" name="Hardcover">
  <a:themeElements>
    <a:clrScheme name="Hardcover">
      <a:dk1>
        <a:sysClr val="windowText" lastClr="000000"/>
      </a:dk1>
      <a:lt1>
        <a:sysClr val="window" lastClr="FFFFFF"/>
      </a:lt1>
      <a:dk2>
        <a:srgbClr val="895D1D"/>
      </a:dk2>
      <a:lt2>
        <a:srgbClr val="ECE9C6"/>
      </a:lt2>
      <a:accent1>
        <a:srgbClr val="873624"/>
      </a:accent1>
      <a:accent2>
        <a:srgbClr val="D6862D"/>
      </a:accent2>
      <a:accent3>
        <a:srgbClr val="D0BE40"/>
      </a:accent3>
      <a:accent4>
        <a:srgbClr val="877F6C"/>
      </a:accent4>
      <a:accent5>
        <a:srgbClr val="972109"/>
      </a:accent5>
      <a:accent6>
        <a:srgbClr val="AEB795"/>
      </a:accent6>
      <a:hlink>
        <a:srgbClr val="CC9900"/>
      </a:hlink>
      <a:folHlink>
        <a:srgbClr val="B2B2B2"/>
      </a:folHlink>
    </a:clrScheme>
    <a:fontScheme name="Hardcover">
      <a:majorFont>
        <a:latin typeface="Book Antiqua"/>
        <a:ea typeface=""/>
        <a:cs typeface=""/>
        <a:font script="Grek" typeface="Times New Roman"/>
        <a:font script="Cyrl" typeface="Times New Roman"/>
        <a:font script="Jpan" typeface="HGS明朝E"/>
        <a:font script="Hang" typeface="궁서"/>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Book Antiqua"/>
        <a:ea typeface=""/>
        <a:cs typeface=""/>
        <a:font script="Grek" typeface="Times New Roman"/>
        <a:font script="Cyrl" typeface="Times New Roman"/>
        <a:font script="Jpan" typeface="HGS明朝E"/>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Hardcover">
      <a:fillStyleLst>
        <a:solidFill>
          <a:schemeClr val="phClr"/>
        </a:solidFill>
        <a:solidFill>
          <a:schemeClr val="phClr">
            <a:tint val="68000"/>
            <a:shade val="94000"/>
            <a:satMod val="300000"/>
            <a:lumMod val="110000"/>
          </a:schemeClr>
        </a:solidFill>
        <a:gradFill rotWithShape="1">
          <a:gsLst>
            <a:gs pos="0">
              <a:schemeClr val="phClr">
                <a:tint val="94000"/>
                <a:satMod val="180000"/>
                <a:lumMod val="98000"/>
              </a:schemeClr>
            </a:gs>
            <a:gs pos="100000">
              <a:schemeClr val="phClr">
                <a:satMod val="130000"/>
              </a:schemeClr>
            </a:gs>
          </a:gsLst>
          <a:lin ang="5160000" scaled="0"/>
        </a:gradFill>
      </a:fillStyleLst>
      <a:lnStyleLst>
        <a:ln w="12700" cap="flat" cmpd="sng" algn="ctr">
          <a:solidFill>
            <a:schemeClr val="phClr">
              <a:shade val="90000"/>
              <a:lumMod val="90000"/>
            </a:schemeClr>
          </a:solidFill>
          <a:prstDash val="solid"/>
        </a:ln>
        <a:ln w="19050" cap="flat" cmpd="sng" algn="ctr">
          <a:solidFill>
            <a:schemeClr val="phClr">
              <a:shade val="75000"/>
              <a:lumMod val="90000"/>
            </a:schemeClr>
          </a:solidFill>
          <a:prstDash val="solid"/>
        </a:ln>
        <a:ln w="25400" cap="flat" cmpd="sng" algn="ctr">
          <a:solidFill>
            <a:schemeClr val="phClr"/>
          </a:solidFill>
          <a:prstDash val="solid"/>
        </a:ln>
      </a:lnStyleLst>
      <a:effectStyleLst>
        <a:effectStyle>
          <a:effectLst>
            <a:outerShdw blurRad="38100" dist="12700" dir="5400000" rotWithShape="0">
              <a:srgbClr val="000000">
                <a:alpha val="15000"/>
              </a:srgbClr>
            </a:outerShdw>
          </a:effectLst>
        </a:effectStyle>
        <a:effectStyle>
          <a:effectLst>
            <a:outerShdw blurRad="50800" dist="25400" dir="5400000" rotWithShape="0">
              <a:srgbClr val="000000">
                <a:alpha val="46000"/>
              </a:srgbClr>
            </a:outerShdw>
          </a:effectLst>
        </a:effectStyle>
        <a:effectStyle>
          <a:effectLst>
            <a:outerShdw blurRad="50800" dist="25400" dir="5400000" rotWithShape="0">
              <a:srgbClr val="000000">
                <a:alpha val="48000"/>
              </a:srgbClr>
            </a:outerShdw>
          </a:effectLst>
          <a:scene3d>
            <a:camera prst="orthographicFront">
              <a:rot lat="0" lon="0" rev="0"/>
            </a:camera>
            <a:lightRig rig="threePt" dir="tl">
              <a:rot lat="0" lon="0" rev="2400000"/>
            </a:lightRig>
          </a:scene3d>
          <a:sp3d>
            <a:bevelT w="25400" h="25400"/>
          </a:sp3d>
        </a:effectStyle>
      </a:effectStyleLst>
      <a:bgFillStyleLst>
        <a:solidFill>
          <a:schemeClr val="phClr">
            <a:tint val="96000"/>
            <a:lumMod val="110000"/>
          </a:schemeClr>
        </a:solidFill>
        <a:blipFill rotWithShape="1">
          <a:blip xmlns:r="http://schemas.openxmlformats.org/officeDocument/2006/relationships" r:embed="rId1">
            <a:duotone>
              <a:schemeClr val="phClr">
                <a:tint val="93000"/>
                <a:shade val="20000"/>
              </a:schemeClr>
              <a:schemeClr val="phClr">
                <a:tint val="90000"/>
                <a:shade val="85000"/>
                <a:satMod val="115000"/>
              </a:schemeClr>
            </a:duotone>
          </a:blip>
          <a:tile tx="0" ty="0" sx="60000" sy="60000" flip="none" algn="tl"/>
        </a:blipFill>
        <a:blipFill rotWithShape="1">
          <a:blip xmlns:r="http://schemas.openxmlformats.org/officeDocument/2006/relationships" r:embed="rId2">
            <a:duotone>
              <a:schemeClr val="phClr">
                <a:shade val="50000"/>
                <a:satMod val="340000"/>
                <a:lumMod val="40000"/>
              </a:schemeClr>
              <a:schemeClr val="phClr">
                <a:tint val="92000"/>
                <a:shade val="94000"/>
                <a:hueMod val="110000"/>
                <a:satMod val="236000"/>
                <a:lumMod val="120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Hardcover</Template>
  <TotalTime>0</TotalTime>
  <Words>4534</Words>
  <Application>WPS Presentation</Application>
  <PresentationFormat>On-screen Show (4:3)</PresentationFormat>
  <Paragraphs>102</Paragraphs>
  <Slides>13</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13</vt:i4>
      </vt:variant>
    </vt:vector>
  </HeadingPairs>
  <TitlesOfParts>
    <vt:vector size="24" baseType="lpstr">
      <vt:lpstr>Arial</vt:lpstr>
      <vt:lpstr>SimSun</vt:lpstr>
      <vt:lpstr>Wingdings</vt:lpstr>
      <vt:lpstr>Algerian</vt:lpstr>
      <vt:lpstr>Times New Roman</vt:lpstr>
      <vt:lpstr>Calibri Light</vt:lpstr>
      <vt:lpstr>Book Antiqua</vt:lpstr>
      <vt:lpstr>Microsoft YaHei</vt:lpstr>
      <vt:lpstr>Arial Unicode MS</vt:lpstr>
      <vt:lpstr>Calibri</vt:lpstr>
      <vt:lpstr>Hardcover</vt:lpstr>
      <vt:lpstr>PowerPoint 演示文稿</vt:lpstr>
      <vt:lpstr>ABSTRACT</vt:lpstr>
      <vt:lpstr>INTRODUCTION</vt:lpstr>
      <vt:lpstr>PROBLEM STATEMENT</vt:lpstr>
      <vt:lpstr>EXISTING SYSTEM</vt:lpstr>
      <vt:lpstr>PROPOSED SYSTEM</vt:lpstr>
      <vt:lpstr>SOFTWARE REQUIREMENTS</vt:lpstr>
      <vt:lpstr>ARCHITECTURE</vt:lpstr>
      <vt:lpstr>IMPLEMENTATION RESULTS AND TEST CASES</vt:lpstr>
      <vt:lpstr>IMPLEMENTATION RESULTS AND TEST CASES</vt:lpstr>
      <vt:lpstr>IMPLEMENTATION RESULTS AND TEST CASES</vt:lpstr>
      <vt:lpstr>CONCLUSION</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Susmitha</dc:creator>
  <cp:lastModifiedBy>bharani</cp:lastModifiedBy>
  <cp:revision>156</cp:revision>
  <dcterms:created xsi:type="dcterms:W3CDTF">2012-04-11T11:10:00Z</dcterms:created>
  <dcterms:modified xsi:type="dcterms:W3CDTF">2023-12-06T08:01:27Z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A141A3D8242F4ACCBCF637D963636F5E_13</vt:lpwstr>
  </property>
  <property fmtid="{D5CDD505-2E9C-101B-9397-08002B2CF9AE}" pid="3" name="KSOProductBuildVer">
    <vt:lpwstr>1033-12.2.0.13306</vt:lpwstr>
  </property>
</Properties>
</file>