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302" r:id="rId3"/>
    <p:sldId id="284" r:id="rId4"/>
    <p:sldId id="285" r:id="rId5"/>
    <p:sldId id="296" r:id="rId6"/>
    <p:sldId id="287" r:id="rId7"/>
    <p:sldId id="288" r:id="rId8"/>
    <p:sldId id="289" r:id="rId9"/>
    <p:sldId id="291" r:id="rId10"/>
    <p:sldId id="293" r:id="rId11"/>
    <p:sldId id="299" r:id="rId12"/>
    <p:sldId id="300" r:id="rId13"/>
    <p:sldId id="301" r:id="rId14"/>
    <p:sldId id="298" r:id="rId15"/>
    <p:sldId id="273" r:id="rId16"/>
  </p:sldIdLst>
  <p:sldSz cx="9144000" cy="6858000" type="screen4x3"/>
  <p:notesSz cx="6858000" cy="9144000"/>
  <p:embeddedFontLst>
    <p:embeddedFont>
      <p:font typeface="Algerian" panose="04020705040A02060702" pitchFamily="82" charset="0"/>
      <p:regular r:id="rId18"/>
    </p:embeddedFont>
    <p:embeddedFont>
      <p:font typeface="Book Antiqua" panose="02040602050305030304" pitchFamily="18" charset="0"/>
      <p:regular r:id="rId19"/>
      <p:bold r:id="rId20"/>
      <p:italic r:id="rId21"/>
      <p:boldItalic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94660"/>
  </p:normalViewPr>
  <p:slideViewPr>
    <p:cSldViewPr snapToGrid="0" snapToObjects="1">
      <p:cViewPr varScale="1">
        <p:scale>
          <a:sx n="63" d="100"/>
          <a:sy n="63" d="100"/>
        </p:scale>
        <p:origin x="1328" y="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D94F183-4935-44D9-92A4-018D7878468E}" type="datetimeFigureOut">
              <a:rPr lang="en-US" smtClean="0"/>
              <a:pPr/>
              <a:t>5/12/2026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979C8E1-8809-4FBD-928C-BDCCB1CE1AF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979C8E1-8809-4FBD-928C-BDCCB1CE1AFC}" type="slidenum">
              <a:rPr lang="en-US" smtClean="0"/>
              <a:pPr/>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58DB32FF-34E7-9545-86A2-0DF334BA82C1}" type="datetimeFigureOut">
              <a:rPr lang="en-US" smtClean="0"/>
              <a:pPr/>
              <a:t>5/12/2026</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42D70897-D982-EA43-8318-894E8D36E196}" type="slidenum">
              <a:rPr lang="en-US" smtClean="0"/>
              <a:pPr/>
              <a:t>‹#›</a:t>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anose="05000000000000000000" pitchFamily="2" charset="2"/>
                </a:rPr>
                <a:t></a:t>
              </a: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DB32FF-34E7-9545-86A2-0DF334BA82C1}"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D70897-D982-EA43-8318-894E8D36E196}" type="slidenum">
              <a:rPr lang="en-US" smtClean="0"/>
              <a:pPr/>
              <a:t>‹#›</a:t>
            </a:fld>
            <a:endParaRPr lang="en-US"/>
          </a:p>
        </p:txBody>
      </p:sp>
      <p:sp>
        <p:nvSpPr>
          <p:cNvPr id="11" name="Title 10"/>
          <p:cNvSpPr>
            <a:spLocks noGrp="1"/>
          </p:cNvSpPr>
          <p:nvPr>
            <p:ph type="title"/>
          </p:nvPr>
        </p:nvSpPr>
        <p:spPr/>
        <p:txBody>
          <a:bodyPr/>
          <a:lstStyle/>
          <a:p>
            <a:r>
              <a:rPr lang="en-US"/>
              <a:t>Click to edit Master title style</a:t>
            </a:r>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anose="05000000000000000000" pitchFamily="2" charset="2"/>
                </a:rPr>
                <a:t></a:t>
              </a: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anose="05000000000000000000" pitchFamily="2" charset="2"/>
                </a:rPr>
                <a:t></a:t>
              </a: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DB32FF-34E7-9545-86A2-0DF334BA82C1}"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D70897-D982-EA43-8318-894E8D36E196}"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8DB32FF-34E7-9545-86A2-0DF334BA82C1}" type="datetimeFigureOut">
              <a:rPr lang="en-US" smtClean="0"/>
              <a:pPr/>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D70897-D982-EA43-8318-894E8D36E196}" type="slidenum">
              <a:rPr lang="en-US" smtClean="0"/>
              <a:pPr/>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anose="05000000000000000000" pitchFamily="2" charset="2"/>
                </a:rPr>
                <a:t></a:t>
              </a: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p:cNvSpPr>
            <a:spLocks noGrp="1"/>
          </p:cNvSpPr>
          <p:nvPr>
            <p:ph sz="quarter" idx="14"/>
          </p:nvPr>
        </p:nvSpPr>
        <p:spPr>
          <a:xfrm>
            <a:off x="4645151" y="2240280"/>
            <a:ext cx="3803904"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8DB32FF-34E7-9545-86A2-0DF334BA82C1}" type="datetimeFigureOut">
              <a:rPr lang="en-US" smtClean="0"/>
              <a:pPr/>
              <a:t>5/12/2026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D70897-D982-EA43-8318-894E8D36E196}" type="slidenum">
              <a:rPr lang="en-US" smtClean="0"/>
              <a:pPr/>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anose="05000000000000000000" pitchFamily="2" charset="2"/>
                </a:rPr>
                <a:t></a:t>
              </a: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DB32FF-34E7-9545-86A2-0DF334BA82C1}" type="datetimeFigureOut">
              <a:rPr lang="en-US" smtClean="0"/>
              <a:pPr/>
              <a:t>5/12/2026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D70897-D982-EA43-8318-894E8D36E196}" type="slidenum">
              <a:rPr lang="en-US" smtClean="0"/>
              <a:pPr/>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anose="05000000000000000000" pitchFamily="2" charset="2"/>
                </a:rPr>
                <a:t></a:t>
              </a: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DB32FF-34E7-9545-86A2-0DF334BA82C1}" type="datetimeFigureOut">
              <a:rPr lang="en-US" smtClean="0"/>
              <a:pPr/>
              <a:t>5/12/2026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D70897-D982-EA43-8318-894E8D36E196}"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a:t>Click to edit Master title style</a:t>
            </a:r>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DB32FF-34E7-9545-86A2-0DF334BA82C1}" type="datetimeFigureOut">
              <a:rPr lang="en-US" smtClean="0"/>
              <a:pPr/>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D70897-D982-EA43-8318-894E8D36E196}"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a:t>Click to edit Master title style</a:t>
            </a:r>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DB32FF-34E7-9545-86A2-0DF334BA82C1}" type="datetimeFigureOut">
              <a:rPr lang="en-US" smtClean="0"/>
              <a:pPr/>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D70897-D982-EA43-8318-894E8D36E196}"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DB32FF-34E7-9545-86A2-0DF334BA82C1}"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D70897-D982-EA43-8318-894E8D36E196}" type="slidenum">
              <a:rPr lang="en-US" smtClean="0"/>
              <a:pPr/>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anose="05000000000000000000" pitchFamily="2" charset="2"/>
                </a:rPr>
                <a:t></a:t>
              </a: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DB32FF-34E7-9545-86A2-0DF334BA82C1}"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D70897-D982-EA43-8318-894E8D36E196}" type="slidenum">
              <a:rPr lang="en-US" smtClean="0"/>
              <a:pPr/>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a:solidFill>
                    <a:schemeClr val="tx2">
                      <a:lumMod val="60000"/>
                      <a:lumOff val="40000"/>
                    </a:schemeClr>
                  </a:solidFill>
                  <a:latin typeface="Wingdings" panose="05000000000000000000" pitchFamily="2" charset="2"/>
                </a:rPr>
                <a:t></a:t>
              </a: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58DB32FF-34E7-9545-86A2-0DF334BA82C1}" type="datetimeFigureOut">
              <a:rPr lang="en-US" smtClean="0"/>
              <a:pPr/>
              <a:t>5/12/2026</a:t>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42D70897-D982-EA43-8318-894E8D36E19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anose="05000000000000000000"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2119745"/>
            <a:ext cx="9144000" cy="3477875"/>
          </a:xfrm>
          <a:prstGeom prst="rect">
            <a:avLst/>
          </a:prstGeom>
        </p:spPr>
        <p:txBody>
          <a:bodyPr wrap="square">
            <a:spAutoFit/>
          </a:bodyPr>
          <a:lstStyle/>
          <a:p>
            <a:pPr algn="just"/>
            <a:r>
              <a:rPr lang="en-US" sz="2000" dirty="0">
                <a:latin typeface="Algerian" panose="04020705040A02060702" pitchFamily="82" charset="0"/>
                <a:cs typeface="Times New Roman" panose="02020603050405020304" charset="0"/>
              </a:rPr>
              <a:t>	</a:t>
            </a:r>
            <a:r>
              <a:rPr lang="en-US" sz="2000" dirty="0">
                <a:latin typeface="Times New Roman" panose="02020603050405020304" charset="0"/>
                <a:cs typeface="Times New Roman" panose="02020603050405020304" charset="0"/>
              </a:rPr>
              <a:t>DEPARTMENT OF COMPUTER SCIENCE AND ENGINEERING (AI&amp;ML)</a:t>
            </a:r>
          </a:p>
          <a:p>
            <a:pPr algn="just"/>
            <a:endParaRPr lang="en-US" sz="2000" b="1" dirty="0">
              <a:latin typeface="Times New Roman" panose="02020603050405020304" charset="0"/>
              <a:cs typeface="Times New Roman" panose="02020603050405020304" charset="0"/>
            </a:endParaRPr>
          </a:p>
          <a:p>
            <a:pPr algn="ctr"/>
            <a:r>
              <a:rPr lang="en-US" sz="2000" b="1" dirty="0">
                <a:latin typeface="Times New Roman" panose="02020603050405020304" charset="0"/>
                <a:cs typeface="Times New Roman" panose="02020603050405020304" charset="0"/>
              </a:rPr>
              <a:t>	</a:t>
            </a:r>
            <a:r>
              <a:rPr lang="en-US" sz="2400" b="1" dirty="0">
                <a:latin typeface="Times New Roman" panose="02020603050405020304" pitchFamily="18" charset="0"/>
                <a:cs typeface="Times New Roman" panose="02020603050405020304" pitchFamily="18" charset="0"/>
              </a:rPr>
              <a:t>Vulnerability Evaluation Method for E-Commerce Transaction Systems With Unobservable Transitions</a:t>
            </a:r>
            <a:r>
              <a:rPr lang="en-US" sz="2000" b="1" dirty="0">
                <a:latin typeface="Times New Roman" panose="02020603050405020304" charset="0"/>
                <a:cs typeface="Times New Roman" panose="02020603050405020304" charset="0"/>
              </a:rPr>
              <a:t>	</a:t>
            </a:r>
            <a:r>
              <a:rPr lang="en-US" sz="1600" b="1" dirty="0">
                <a:latin typeface="Times New Roman" panose="02020603050405020304" charset="0"/>
                <a:cs typeface="Times New Roman" panose="02020603050405020304" charset="0"/>
              </a:rPr>
              <a:t>			</a:t>
            </a:r>
            <a:endParaRPr lang="en-IN" sz="2800" dirty="0"/>
          </a:p>
          <a:p>
            <a:pPr algn="ctr"/>
            <a:br>
              <a:rPr lang="en-IN" dirty="0"/>
            </a:br>
            <a:br>
              <a:rPr lang="en-IN" dirty="0"/>
            </a:br>
            <a:br>
              <a:rPr lang="en-IN" sz="1400" dirty="0">
                <a:latin typeface="Times New Roman" panose="02020603050405020304" charset="0"/>
                <a:cs typeface="Times New Roman" panose="02020603050405020304" charset="0"/>
              </a:rPr>
            </a:br>
            <a:br>
              <a:rPr lang="en-IN" sz="1400" dirty="0">
                <a:latin typeface="Times New Roman" panose="02020603050405020304" charset="0"/>
                <a:cs typeface="Times New Roman" panose="02020603050405020304" charset="0"/>
              </a:rPr>
            </a:br>
            <a:br>
              <a:rPr lang="en-IN" sz="1400" dirty="0">
                <a:latin typeface="Times New Roman" panose="02020603050405020304" charset="0"/>
                <a:cs typeface="Times New Roman" panose="02020603050405020304" charset="0"/>
              </a:rPr>
            </a:br>
            <a:br>
              <a:rPr lang="en-IN" dirty="0">
                <a:latin typeface="Times New Roman" panose="02020603050405020304" charset="0"/>
                <a:cs typeface="Times New Roman" panose="02020603050405020304" charset="0"/>
              </a:rPr>
            </a:br>
            <a:br>
              <a:rPr lang="en-IN" dirty="0">
                <a:latin typeface="Times New Roman" panose="02020603050405020304" charset="0"/>
                <a:cs typeface="Times New Roman" panose="02020603050405020304" charset="0"/>
              </a:rPr>
            </a:br>
            <a:endParaRPr lang="en-IN" dirty="0">
              <a:latin typeface="Times New Roman" panose="02020603050405020304" charset="0"/>
              <a:cs typeface="Times New Roman" panose="02020603050405020304" charset="0"/>
            </a:endParaRPr>
          </a:p>
        </p:txBody>
      </p:sp>
      <p:pic>
        <p:nvPicPr>
          <p:cNvPr id="5" name="Picture 4"/>
          <p:cNvPicPr/>
          <p:nvPr/>
        </p:nvPicPr>
        <p:blipFill>
          <a:blip r:embed="rId2"/>
          <a:srcRect/>
          <a:stretch>
            <a:fillRect/>
          </a:stretch>
        </p:blipFill>
        <p:spPr bwMode="auto">
          <a:xfrm>
            <a:off x="616018" y="182880"/>
            <a:ext cx="7971186" cy="1491916"/>
          </a:xfrm>
          <a:prstGeom prst="rect">
            <a:avLst/>
          </a:prstGeom>
          <a:noFill/>
          <a:ln w="9525">
            <a:noFill/>
            <a:miter lim="800000"/>
            <a:headEnd/>
            <a:tailEnd/>
          </a:ln>
        </p:spPr>
      </p:pic>
      <p:sp>
        <p:nvSpPr>
          <p:cNvPr id="6" name="Rectangle 5"/>
          <p:cNvSpPr/>
          <p:nvPr/>
        </p:nvSpPr>
        <p:spPr>
          <a:xfrm>
            <a:off x="3576320" y="3628725"/>
            <a:ext cx="5010883" cy="3139321"/>
          </a:xfrm>
          <a:prstGeom prst="rect">
            <a:avLst/>
          </a:prstGeom>
        </p:spPr>
        <p:txBody>
          <a:bodyPr wrap="square">
            <a:spAutoFit/>
          </a:bodyPr>
          <a:lstStyle/>
          <a:p>
            <a:pPr algn="just"/>
            <a:r>
              <a:rPr lang="en-US" dirty="0">
                <a:latin typeface="Times New Roman" panose="02020603050405020304" charset="0"/>
                <a:cs typeface="Times New Roman" panose="02020603050405020304" charset="0"/>
              </a:rPr>
              <a:t>                 Presented by:</a:t>
            </a:r>
          </a:p>
          <a:p>
            <a:pPr algn="just"/>
            <a:endParaRPr lang="en-US" dirty="0">
              <a:latin typeface="Times New Roman" panose="02020603050405020304" charset="0"/>
              <a:cs typeface="Times New Roman" panose="02020603050405020304" charset="0"/>
            </a:endParaRPr>
          </a:p>
          <a:p>
            <a:pPr algn="just"/>
            <a:r>
              <a:rPr lang="en-US" dirty="0">
                <a:latin typeface="Times New Roman" panose="02020603050405020304" charset="0"/>
                <a:cs typeface="Times New Roman" panose="02020603050405020304" charset="0"/>
              </a:rPr>
              <a:t>D.SUSMITHA      (216Y5A6601)</a:t>
            </a:r>
          </a:p>
          <a:p>
            <a:pPr algn="just"/>
            <a:endParaRPr lang="en-US" dirty="0">
              <a:latin typeface="Times New Roman" panose="02020603050405020304" charset="0"/>
              <a:cs typeface="Times New Roman" panose="02020603050405020304" charset="0"/>
            </a:endParaRPr>
          </a:p>
          <a:p>
            <a:pPr algn="just"/>
            <a:r>
              <a:rPr lang="en-US" dirty="0">
                <a:latin typeface="Times New Roman" panose="02020603050405020304" charset="0"/>
                <a:cs typeface="Times New Roman" panose="02020603050405020304" charset="0"/>
              </a:rPr>
              <a:t>U.SWATHI   	       (206Y1A6649)</a:t>
            </a:r>
          </a:p>
          <a:p>
            <a:pPr algn="just"/>
            <a:endParaRPr lang="en-US" dirty="0">
              <a:latin typeface="Times New Roman" panose="02020603050405020304" charset="0"/>
              <a:cs typeface="Times New Roman" panose="02020603050405020304" charset="0"/>
            </a:endParaRPr>
          </a:p>
          <a:p>
            <a:pPr algn="just"/>
            <a:r>
              <a:rPr lang="en-US" dirty="0">
                <a:latin typeface="Times New Roman" panose="02020603050405020304" charset="0"/>
                <a:cs typeface="Times New Roman" panose="02020603050405020304" charset="0"/>
              </a:rPr>
              <a:t>N.BHARANI        (206Y1A6636)</a:t>
            </a:r>
          </a:p>
          <a:p>
            <a:pPr algn="just"/>
            <a:endParaRPr lang="en-US" dirty="0">
              <a:latin typeface="Times New Roman" panose="02020603050405020304" charset="0"/>
              <a:cs typeface="Times New Roman" panose="02020603050405020304" charset="0"/>
            </a:endParaRPr>
          </a:p>
          <a:p>
            <a:pPr algn="just"/>
            <a:r>
              <a:rPr lang="en-US" dirty="0">
                <a:latin typeface="Times New Roman" panose="02020603050405020304" charset="0"/>
                <a:cs typeface="Times New Roman" panose="02020603050405020304" charset="0"/>
              </a:rPr>
              <a:t>B.BHAVANI         (206Y1A6606)</a:t>
            </a:r>
          </a:p>
          <a:p>
            <a:pPr algn="just"/>
            <a:endParaRPr lang="en-US" dirty="0">
              <a:latin typeface="Times New Roman" panose="02020603050405020304" charset="0"/>
              <a:cs typeface="Times New Roman" panose="02020603050405020304" charset="0"/>
            </a:endParaRPr>
          </a:p>
          <a:p>
            <a:pPr algn="just"/>
            <a:r>
              <a:rPr lang="en-US" dirty="0">
                <a:latin typeface="Times New Roman" panose="02020603050405020304" charset="0"/>
                <a:cs typeface="Times New Roman" panose="02020603050405020304" charset="0"/>
              </a:rPr>
              <a:t>Under the Guidance of Asst Prof.B.Chiranjeevi</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247" y="2097157"/>
            <a:ext cx="7745505" cy="4452729"/>
          </a:xfrm>
        </p:spPr>
        <p:txBody>
          <a:bodyPr>
            <a:normAutofit/>
          </a:bodyPr>
          <a:lstStyle/>
          <a:p>
            <a:pPr algn="just"/>
            <a:r>
              <a:rPr lang="en-IN" sz="1800" dirty="0">
                <a:latin typeface="Times New Roman" panose="02020603050405020304" charset="0"/>
                <a:cs typeface="Times New Roman" panose="02020603050405020304" charset="0"/>
              </a:rPr>
              <a:t>ABSTRACT</a:t>
            </a:r>
          </a:p>
          <a:p>
            <a:pPr algn="just"/>
            <a:r>
              <a:rPr lang="en-US" sz="1800" dirty="0">
                <a:latin typeface="Times New Roman" panose="02020603050405020304" charset="0"/>
                <a:cs typeface="Times New Roman" panose="02020603050405020304" charset="0"/>
              </a:rPr>
              <a:t>INTRODUCTION</a:t>
            </a:r>
          </a:p>
          <a:p>
            <a:pPr algn="just"/>
            <a:r>
              <a:rPr lang="en-IN" sz="1800" dirty="0">
                <a:latin typeface="Times New Roman" panose="02020603050405020304" charset="0"/>
                <a:cs typeface="Times New Roman" panose="02020603050405020304" charset="0"/>
              </a:rPr>
              <a:t>PROBLEM STATEMENT</a:t>
            </a:r>
          </a:p>
          <a:p>
            <a:pPr algn="just"/>
            <a:r>
              <a:rPr lang="en-IN" altLang="en-US" sz="1800" dirty="0">
                <a:latin typeface="Times New Roman" panose="02020603050405020304" charset="0"/>
                <a:cs typeface="Times New Roman" panose="02020603050405020304" charset="0"/>
              </a:rPr>
              <a:t>EXISTING SYSTEM</a:t>
            </a:r>
          </a:p>
          <a:p>
            <a:pPr algn="just"/>
            <a:r>
              <a:rPr lang="en-IN" altLang="en-US" sz="1800" dirty="0">
                <a:latin typeface="Times New Roman" panose="02020603050405020304" charset="0"/>
                <a:cs typeface="Times New Roman" panose="02020603050405020304" charset="0"/>
              </a:rPr>
              <a:t>PROPOSED SYSTEM</a:t>
            </a:r>
          </a:p>
          <a:p>
            <a:pPr algn="just"/>
            <a:r>
              <a:rPr lang="en-IN" altLang="en-US" sz="1800" dirty="0">
                <a:latin typeface="Times New Roman" panose="02020603050405020304" charset="0"/>
                <a:cs typeface="Times New Roman" panose="02020603050405020304" charset="0"/>
              </a:rPr>
              <a:t>SOFTWARE REQUIREMENTS</a:t>
            </a:r>
          </a:p>
          <a:p>
            <a:pPr lvl="0" algn="just"/>
            <a:r>
              <a:rPr lang="en-IN" altLang="en-US" sz="1800" dirty="0">
                <a:solidFill>
                  <a:schemeClr val="tx1"/>
                </a:solidFill>
                <a:latin typeface="Times New Roman" panose="02020603050405020304" charset="0"/>
                <a:cs typeface="Times New Roman" panose="02020603050405020304" charset="0"/>
              </a:rPr>
              <a:t>HARDWARE REQUIREMENTS</a:t>
            </a:r>
          </a:p>
          <a:p>
            <a:pPr lvl="0" algn="just"/>
            <a:r>
              <a:rPr lang="en-IN" altLang="en-US" sz="1800" dirty="0">
                <a:latin typeface="Times New Roman" panose="02020603050405020304" charset="0"/>
                <a:cs typeface="Times New Roman" panose="02020603050405020304" charset="0"/>
              </a:rPr>
              <a:t>ARCHITECTURE</a:t>
            </a:r>
          </a:p>
          <a:p>
            <a:pPr lvl="0" algn="just"/>
            <a:r>
              <a:rPr lang="en-IN" altLang="en-US" sz="1800" dirty="0">
                <a:latin typeface="Times New Roman" panose="02020603050405020304" charset="0"/>
                <a:cs typeface="Times New Roman" panose="02020603050405020304" charset="0"/>
              </a:rPr>
              <a:t>IMPLEMENTATION RESULTS AND TEST CASES</a:t>
            </a:r>
          </a:p>
          <a:p>
            <a:pPr lvl="0" algn="just"/>
            <a:r>
              <a:rPr lang="en-IN" sz="1800" dirty="0">
                <a:latin typeface="Times New Roman" panose="02020603050405020304" charset="0"/>
                <a:cs typeface="Times New Roman" panose="02020603050405020304" charset="0"/>
              </a:rPr>
              <a:t>ADVANTAGES</a:t>
            </a:r>
          </a:p>
          <a:p>
            <a:pPr lvl="0" algn="just"/>
            <a:r>
              <a:rPr lang="en-IN" sz="1800" dirty="0">
                <a:latin typeface="Times New Roman" panose="02020603050405020304" charset="0"/>
                <a:cs typeface="Times New Roman" panose="02020603050405020304" charset="0"/>
              </a:rPr>
              <a:t>DISADVANTAGES</a:t>
            </a:r>
          </a:p>
          <a:p>
            <a:pPr lvl="0" algn="just"/>
            <a:r>
              <a:rPr lang="en-IN" sz="1800" dirty="0">
                <a:latin typeface="Times New Roman" panose="02020603050405020304" charset="0"/>
                <a:cs typeface="Times New Roman" panose="02020603050405020304" charset="0"/>
              </a:rPr>
              <a:t>CONCLUSION</a:t>
            </a:r>
          </a:p>
          <a:p>
            <a:pPr lvl="0" algn="just"/>
            <a:endParaRPr lang="en-IN" sz="1800" dirty="0">
              <a:latin typeface="Times New Roman" panose="02020603050405020304" charset="0"/>
              <a:cs typeface="Times New Roman" panose="02020603050405020304" charset="0"/>
            </a:endParaRPr>
          </a:p>
          <a:p>
            <a:pPr lvl="0" algn="just"/>
            <a:endParaRPr lang="en-IN" sz="1800" dirty="0">
              <a:latin typeface="Times New Roman" panose="02020603050405020304" charset="0"/>
              <a:cs typeface="Times New Roman" panose="02020603050405020304" charset="0"/>
            </a:endParaRPr>
          </a:p>
          <a:p>
            <a:pPr lvl="0" algn="just"/>
            <a:endParaRPr lang="en-IN" sz="1800" dirty="0">
              <a:latin typeface="Times New Roman" panose="02020603050405020304" charset="0"/>
              <a:cs typeface="Times New Roman" panose="02020603050405020304" charset="0"/>
            </a:endParaRPr>
          </a:p>
          <a:p>
            <a:pPr lvl="0" algn="just"/>
            <a:endParaRPr lang="en-US" sz="1800" dirty="0">
              <a:solidFill>
                <a:schemeClr val="tx2"/>
              </a:solidFill>
              <a:latin typeface="Times New Roman" panose="02020603050405020304" charset="0"/>
              <a:cs typeface="Times New Roman" panose="02020603050405020304" charset="0"/>
            </a:endParaRPr>
          </a:p>
          <a:p>
            <a:endParaRPr lang="en-IN" altLang="en-US" sz="2000" b="1" dirty="0">
              <a:latin typeface="Times New Roman" panose="02020603050405020304" charset="0"/>
              <a:cs typeface="Times New Roman" panose="02020603050405020304" charset="0"/>
            </a:endParaRPr>
          </a:p>
          <a:p>
            <a:endParaRPr lang="en-IN" altLang="en-US" sz="2000" dirty="0">
              <a:latin typeface="Times New Roman" panose="02020603050405020304" charset="0"/>
              <a:cs typeface="Times New Roman" panose="02020603050405020304" charset="0"/>
            </a:endParaRPr>
          </a:p>
          <a:p>
            <a:endParaRPr lang="en-IN" altLang="en-US" sz="2000" dirty="0">
              <a:latin typeface="Times New Roman" panose="02020603050405020304" charset="0"/>
              <a:cs typeface="Times New Roman" panose="02020603050405020304" charset="0"/>
            </a:endParaRPr>
          </a:p>
          <a:p>
            <a:endParaRPr lang="en-IN" sz="2000" dirty="0"/>
          </a:p>
          <a:p>
            <a:endParaRPr lang="en-US" sz="2000" dirty="0">
              <a:latin typeface="Times New Roman" panose="02020603050405020304" charset="0"/>
              <a:cs typeface="Times New Roman" panose="02020603050405020304" charset="0"/>
            </a:endParaRPr>
          </a:p>
          <a:p>
            <a:endParaRPr lang="en-US" sz="2000" dirty="0">
              <a:latin typeface="Times New Roman" panose="02020603050405020304" charset="0"/>
              <a:cs typeface="Times New Roman" panose="02020603050405020304" charset="0"/>
            </a:endParaRPr>
          </a:p>
          <a:p>
            <a:endParaRPr lang="en-US" sz="2000" dirty="0"/>
          </a:p>
          <a:p>
            <a:endParaRPr lang="en-US" dirty="0"/>
          </a:p>
          <a:p>
            <a:pPr>
              <a:buNone/>
            </a:pPr>
            <a:endParaRPr dirty="0"/>
          </a:p>
        </p:txBody>
      </p:sp>
      <p:sp>
        <p:nvSpPr>
          <p:cNvPr id="2" name="Title 1"/>
          <p:cNvSpPr>
            <a:spLocks noGrp="1"/>
          </p:cNvSpPr>
          <p:nvPr>
            <p:ph type="title"/>
          </p:nvPr>
        </p:nvSpPr>
        <p:spPr/>
        <p:txBody>
          <a:bodyPr>
            <a:noAutofit/>
          </a:bodyPr>
          <a:lstStyle/>
          <a:p>
            <a:r>
              <a:rPr lang="en-US" dirty="0">
                <a:latin typeface="Times New Roman" panose="02020603050405020304" charset="0"/>
                <a:cs typeface="Times New Roman" panose="02020603050405020304" charset="0"/>
              </a:rPr>
              <a:t>CONTENTS</a:t>
            </a:r>
            <a:endParaRPr lang="en-US" b="1"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247" y="2248347"/>
            <a:ext cx="7745505" cy="4354584"/>
          </a:xfrm>
        </p:spPr>
        <p:txBody>
          <a:bodyPr>
            <a:normAutofit/>
          </a:bodyPr>
          <a:lstStyle/>
          <a:p>
            <a:pPr algn="just"/>
            <a:r>
              <a:rPr lang="en-US" sz="1600" dirty="0">
                <a:latin typeface="Times New Roman" panose="02020603050405020304" pitchFamily="18" charset="0"/>
                <a:cs typeface="Times New Roman" panose="02020603050405020304" pitchFamily="18" charset="0"/>
              </a:rPr>
              <a:t>E-commerce systems are still undergoing development, but they're often vulnerable to hidden actions and attacks, making security a big concern.</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VET-net is a helpful model for understanding hidden actions and transactions in e-commerce systems.</a:t>
            </a:r>
          </a:p>
          <a:p>
            <a:pPr marL="0" indent="0" algn="just">
              <a:buNone/>
            </a:pPr>
            <a:endParaRPr lang="en-US" sz="18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We use VET-net to detect and assess e-commerce system vulnerabilities, introducing the concept of vulnerable transitions, including hidden actions and then we use an improved slice method to locate the vulnerable transitions.</a:t>
            </a:r>
          </a:p>
          <a:p>
            <a:pPr marL="0" indent="0" algn="just">
              <a:buNone/>
            </a:pPr>
            <a:endParaRPr lang="en-US" sz="18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We propose a vulnerability evaluation method called HMM-RG, using hidden Markov models to assess vulnerable transitions in e-commerce systems, demonstrating its efficacy with a real-world case.</a:t>
            </a:r>
          </a:p>
          <a:p>
            <a:pPr>
              <a:buNone/>
            </a:pPr>
            <a:endParaRPr lang="en-IN" sz="2000" dirty="0"/>
          </a:p>
          <a:p>
            <a:pPr>
              <a:buNone/>
            </a:pPr>
            <a:endParaRPr lang="en-US" sz="2000" dirty="0"/>
          </a:p>
        </p:txBody>
      </p:sp>
      <p:sp>
        <p:nvSpPr>
          <p:cNvPr id="2" name="Title 1"/>
          <p:cNvSpPr>
            <a:spLocks noGrp="1"/>
          </p:cNvSpPr>
          <p:nvPr>
            <p:ph type="title"/>
          </p:nvPr>
        </p:nvSpPr>
        <p:spPr>
          <a:xfrm>
            <a:off x="688490" y="539676"/>
            <a:ext cx="7756263" cy="1054250"/>
          </a:xfrm>
        </p:spPr>
        <p:txBody>
          <a:bodyPr>
            <a:normAutofit/>
          </a:bodyPr>
          <a:lstStyle/>
          <a:p>
            <a:r>
              <a:rPr lang="en-IN" b="1" dirty="0">
                <a:latin typeface="Times New Roman" panose="02020603050405020304" charset="0"/>
                <a:cs typeface="Times New Roman" panose="02020603050405020304" charset="0"/>
              </a:rPr>
              <a:t>ABSTRACT</a:t>
            </a:r>
            <a:endParaRPr lang="en-US" b="1"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8615" y="2248347"/>
            <a:ext cx="7986138" cy="4344958"/>
          </a:xfrm>
        </p:spPr>
        <p:txBody>
          <a:bodyPr>
            <a:noAutofit/>
          </a:bodyPr>
          <a:lstStyle/>
          <a:p>
            <a:pPr algn="just"/>
            <a:r>
              <a:rPr lang="en-US" sz="1600" dirty="0">
                <a:latin typeface="Times New Roman" panose="02020603050405020304" pitchFamily="18" charset="0"/>
                <a:cs typeface="Times New Roman" panose="02020603050405020304" pitchFamily="18" charset="0"/>
              </a:rPr>
              <a:t>With the development of e-commerce, an increasing number of people are paying attention to the study of economic systems. Due to the imperfect nature of the e-commerce system itself, there are many problems in managing e-commerce systems.</a:t>
            </a:r>
          </a:p>
          <a:p>
            <a:pPr marL="0" indent="0" algn="just">
              <a:buNone/>
            </a:pP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For a safe system, there are methods that can be used to diagnose insecurity for users, such as those an e-commerce system is not completely secure.</a:t>
            </a:r>
          </a:p>
          <a:p>
            <a:pPr marL="0" indent="0" algn="just">
              <a:buNone/>
            </a:pP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VET-nets help identify normal and malicious actions in e-commerce systems, focusing on unobservable transitions that can lead to security vulnerabilities. Existing methods often overlook these hidden actions, making them less effective in preventing attacks.</a:t>
            </a:r>
          </a:p>
          <a:p>
            <a:pPr marL="0" indent="0" algn="just">
              <a:buNone/>
            </a:pP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The paper's goal is to evaluate vulnerabilities caused by these unobservable actions to enhance e-commerce security, emphasizing prevention rather than just post-attack analysis.</a:t>
            </a:r>
          </a:p>
        </p:txBody>
      </p:sp>
      <p:sp>
        <p:nvSpPr>
          <p:cNvPr id="2" name="Title 1"/>
          <p:cNvSpPr>
            <a:spLocks noGrp="1"/>
          </p:cNvSpPr>
          <p:nvPr>
            <p:ph type="title"/>
          </p:nvPr>
        </p:nvSpPr>
        <p:spPr>
          <a:xfrm>
            <a:off x="688490" y="506896"/>
            <a:ext cx="7756263" cy="1043607"/>
          </a:xfrm>
        </p:spPr>
        <p:txBody>
          <a:bodyPr>
            <a:normAutofit/>
          </a:bodyPr>
          <a:lstStyle/>
          <a:p>
            <a:r>
              <a:rPr lang="en-IN" b="1" dirty="0">
                <a:latin typeface="Times New Roman" panose="02020603050405020304" charset="0"/>
                <a:cs typeface="Times New Roman" panose="02020603050405020304" charset="0"/>
              </a:rPr>
              <a:t>INTRODUCTION</a:t>
            </a:r>
            <a:endParaRPr lang="en-US" b="1" dirty="0">
              <a:latin typeface="Times New Roman" panose="02020603050405020304" charset="0"/>
              <a:cs typeface="Times New Roman" panose="02020603050405020304" charset="0"/>
            </a:endParaRPr>
          </a:p>
        </p:txBody>
      </p:sp>
      <p:sp>
        <p:nvSpPr>
          <p:cNvPr id="6" name="Rectangle 5"/>
          <p:cNvSpPr/>
          <p:nvPr/>
        </p:nvSpPr>
        <p:spPr>
          <a:xfrm>
            <a:off x="2286000" y="2367171"/>
            <a:ext cx="4572000" cy="608115"/>
          </a:xfrm>
          <a:prstGeom prst="rect">
            <a:avLst/>
          </a:prstGeom>
        </p:spPr>
        <p:txBody>
          <a:bodyPr>
            <a:spAutoFit/>
          </a:bodyPr>
          <a:lstStyle/>
          <a:p>
            <a:pPr algn="ctr">
              <a:lnSpc>
                <a:spcPct val="150000"/>
              </a:lnSpc>
            </a:pPr>
            <a:br>
              <a:rPr lang="en-IN" altLang="en-US" sz="800" dirty="0">
                <a:cs typeface="Times New Roman" panose="02020603050405020304" charset="0"/>
              </a:rPr>
            </a:br>
            <a:endParaRPr lang="en-IN" altLang="en-US" sz="1600" dirty="0">
              <a:latin typeface="Calibri Light" panose="020F03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latin typeface="Times New Roman" panose="02020603050405020304" charset="0"/>
                <a:cs typeface="Times New Roman" panose="02020603050405020304" charset="0"/>
              </a:rPr>
              <a:t>PROBLEM STATEMENT</a:t>
            </a:r>
            <a:endParaRPr lang="en-US" dirty="0">
              <a:latin typeface="Times New Roman" panose="02020603050405020304" charset="0"/>
              <a:cs typeface="Times New Roman" panose="02020603050405020304" charset="0"/>
            </a:endParaRPr>
          </a:p>
        </p:txBody>
      </p:sp>
      <p:sp>
        <p:nvSpPr>
          <p:cNvPr id="4" name="Content Placeholder 3"/>
          <p:cNvSpPr>
            <a:spLocks noGrp="1"/>
          </p:cNvSpPr>
          <p:nvPr>
            <p:ph idx="1"/>
          </p:nvPr>
        </p:nvSpPr>
        <p:spPr>
          <a:xfrm>
            <a:off x="414779" y="2196445"/>
            <a:ext cx="8248454" cy="4128941"/>
          </a:xfrm>
        </p:spPr>
        <p:txBody>
          <a:bodyPr>
            <a:normAutofit/>
          </a:bodyPr>
          <a:lstStyle/>
          <a:p>
            <a:pPr algn="just"/>
            <a:r>
              <a:rPr lang="en-US" sz="2800" dirty="0">
                <a:latin typeface="Times New Roman" panose="02020603050405020304" charset="0"/>
                <a:cs typeface="Times New Roman" panose="02020603050405020304" charset="0"/>
              </a:rPr>
              <a:t> </a:t>
            </a:r>
            <a:r>
              <a:rPr lang="en-US" sz="2000" dirty="0">
                <a:latin typeface="Times New Roman" panose="02020603050405020304" pitchFamily="18" charset="0"/>
                <a:cs typeface="Times New Roman" panose="02020603050405020304" pitchFamily="18" charset="0"/>
              </a:rPr>
              <a:t>The rapid growth of e-commerce has led to complex transaction systems with both observable and unobservable actions. While traditional methods can identify vulnerabilities in observable transitions, they struggle with unobservable ones, creating blind spots for potential attacks. </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It aims to develop a comprehensive vulnerability assessment approach specifically tailored to e-commerce systems, considering unobservable transitions to ensure robust security measures.</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9558" y="2526384"/>
            <a:ext cx="7532017" cy="3374795"/>
          </a:xfrm>
        </p:spPr>
        <p:txBody>
          <a:bodyPr>
            <a:normAutofit/>
          </a:bodyPr>
          <a:lstStyle/>
          <a:p>
            <a:pPr algn="just"/>
            <a:r>
              <a:rPr lang="en-US" dirty="0">
                <a:latin typeface="Times New Roman" panose="02020603050405020304" pitchFamily="18" charset="0"/>
                <a:cs typeface="Times New Roman" panose="02020603050405020304" pitchFamily="18" charset="0"/>
              </a:rPr>
              <a:t>There is no proper VULNERABILITY ANALYSIS AND EVALUATION method due to lack of technology.</a:t>
            </a:r>
            <a:endParaRPr lang="en-IN"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There is no technique called hidden Markov model (HMM) to find vulnerability on datasets.</a:t>
            </a:r>
            <a:endParaRPr lang="en-IN"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688490" y="702644"/>
            <a:ext cx="7756263" cy="904774"/>
          </a:xfrm>
        </p:spPr>
        <p:txBody>
          <a:bodyPr>
            <a:noAutofit/>
          </a:bodyPr>
          <a:lstStyle/>
          <a:p>
            <a:r>
              <a:rPr lang="en-IN" altLang="en-US" b="1" dirty="0">
                <a:latin typeface="Times New Roman" panose="02020603050405020304" charset="0"/>
                <a:cs typeface="Times New Roman" panose="02020603050405020304" charset="0"/>
              </a:rPr>
              <a:t>EXISTING SYSTEM</a:t>
            </a:r>
            <a:endParaRPr lang="en-US" b="1"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6105" y="2248347"/>
            <a:ext cx="7523922" cy="4181329"/>
          </a:xfrm>
        </p:spPr>
        <p:txBody>
          <a:bodyPr>
            <a:noAutofit/>
          </a:bodyPr>
          <a:lstStyle/>
          <a:p>
            <a:pPr>
              <a:buNone/>
            </a:pPr>
            <a:endParaRPr lang="en-IN" sz="1600" dirty="0">
              <a:solidFill>
                <a:srgbClr val="000000"/>
              </a:solidFill>
              <a:latin typeface="Times New Roman" panose="02020603050405020304" charset="0"/>
              <a:cs typeface="Times New Roman" panose="02020603050405020304" charset="0"/>
            </a:endParaRPr>
          </a:p>
          <a:p>
            <a:pPr algn="just"/>
            <a:r>
              <a:rPr lang="en-US" sz="2000" dirty="0">
                <a:latin typeface="Times New Roman" panose="02020603050405020304" pitchFamily="18" charset="0"/>
                <a:cs typeface="Times New Roman" panose="02020603050405020304" pitchFamily="18" charset="0"/>
              </a:rPr>
              <a:t>We propose the concept of vulnerable transitions, which includes not only vulnerable actions but also unobservable transitions. We present a new method to locate the vulnerable transitions of a VET-net.</a:t>
            </a:r>
          </a:p>
          <a:p>
            <a:pPr marL="0" indent="0" algn="just">
              <a:buNone/>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We use hidden Markov models (HMMs) to approximate the state reachability graph of a VET-net. Based on this, we give a vulnerable state evaluation method for</a:t>
            </a: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 VET-net. </a:t>
            </a:r>
            <a:endParaRPr lang="en-IN" sz="2000" dirty="0">
              <a:latin typeface="Times New Roman" panose="02020603050405020304" pitchFamily="18" charset="0"/>
              <a:cs typeface="Times New Roman" panose="02020603050405020304" pitchFamily="18" charset="0"/>
            </a:endParaRPr>
          </a:p>
          <a:p>
            <a:pPr algn="just"/>
            <a:endParaRPr lang="en-IN" sz="2000" i="1" dirty="0">
              <a:solidFill>
                <a:srgbClr val="000000"/>
              </a:solidFill>
              <a:latin typeface="Times New Roman" panose="02020603050405020304" pitchFamily="18" charset="0"/>
              <a:ea typeface="Times New Roman" panose="02020603050405020304" charset="0"/>
              <a:cs typeface="Times New Roman" panose="02020603050405020304" pitchFamily="18" charset="0"/>
            </a:endParaRPr>
          </a:p>
          <a:p>
            <a:pPr algn="just">
              <a:buNone/>
            </a:pPr>
            <a:r>
              <a:rPr lang="en-IN" sz="2000" i="1" dirty="0">
                <a:solidFill>
                  <a:srgbClr val="000000"/>
                </a:solidFill>
                <a:latin typeface="Times New Roman" panose="02020603050405020304" charset="0"/>
                <a:ea typeface="Times New Roman" panose="02020603050405020304" charset="0"/>
                <a:cs typeface="Times New Roman" panose="02020603050405020304" charset="0"/>
              </a:rPr>
              <a:t>  </a:t>
            </a:r>
            <a:endParaRPr lang="en-IN" sz="2000" dirty="0">
              <a:latin typeface="Times New Roman" panose="02020603050405020304" charset="0"/>
              <a:ea typeface="Times New Roman" panose="02020603050405020304" charset="0"/>
              <a:cs typeface="Times New Roman" panose="02020603050405020304" charset="0"/>
            </a:endParaRPr>
          </a:p>
          <a:p>
            <a:pPr>
              <a:buNone/>
            </a:pPr>
            <a:endParaRPr lang="en-US" sz="2000" dirty="0">
              <a:latin typeface="Times New Roman" panose="02020603050405020304" charset="0"/>
              <a:cs typeface="Times New Roman" panose="02020603050405020304" charset="0"/>
            </a:endParaRPr>
          </a:p>
        </p:txBody>
      </p:sp>
      <p:sp>
        <p:nvSpPr>
          <p:cNvPr id="2" name="Title 1"/>
          <p:cNvSpPr>
            <a:spLocks noGrp="1"/>
          </p:cNvSpPr>
          <p:nvPr>
            <p:ph type="title"/>
          </p:nvPr>
        </p:nvSpPr>
        <p:spPr>
          <a:xfrm>
            <a:off x="144380" y="570156"/>
            <a:ext cx="8701238" cy="1054250"/>
          </a:xfrm>
        </p:spPr>
        <p:txBody>
          <a:bodyPr>
            <a:normAutofit/>
          </a:bodyPr>
          <a:lstStyle/>
          <a:p>
            <a:r>
              <a:rPr lang="en-IN" altLang="en-US" b="1" dirty="0">
                <a:latin typeface="Times New Roman" panose="02020603050405020304" charset="0"/>
                <a:cs typeface="Times New Roman" panose="02020603050405020304" charset="0"/>
              </a:rPr>
              <a:t>PROPOSED SYSTEM</a:t>
            </a:r>
            <a:endParaRPr lang="en-US" b="1"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altLang="en-US" sz="4000" b="1" dirty="0">
                <a:latin typeface="Times New Roman" panose="02020603050405020304" charset="0"/>
                <a:cs typeface="Times New Roman" panose="02020603050405020304" charset="0"/>
              </a:rPr>
              <a:t>SOFTWARE REQUIREMENTS</a:t>
            </a:r>
            <a:endParaRPr lang="en-US" sz="4000" dirty="0">
              <a:latin typeface="Times New Roman" panose="02020603050405020304" charset="0"/>
              <a:cs typeface="Times New Roman" panose="02020603050405020304" charset="0"/>
            </a:endParaRPr>
          </a:p>
        </p:txBody>
      </p:sp>
      <p:sp>
        <p:nvSpPr>
          <p:cNvPr id="4" name="Content Placeholder 3"/>
          <p:cNvSpPr>
            <a:spLocks noGrp="1"/>
          </p:cNvSpPr>
          <p:nvPr>
            <p:ph idx="1"/>
          </p:nvPr>
        </p:nvSpPr>
        <p:spPr>
          <a:xfrm>
            <a:off x="699247" y="2248347"/>
            <a:ext cx="7745505" cy="1359557"/>
          </a:xfrm>
        </p:spPr>
        <p:txBody>
          <a:bodyPr>
            <a:normAutofit fontScale="92500" lnSpcReduction="20000"/>
          </a:bodyPr>
          <a:lstStyle/>
          <a:p>
            <a:pPr lvl="0" algn="just"/>
            <a:r>
              <a:rPr lang="en-US" sz="2200" dirty="0">
                <a:latin typeface="Times New Roman" panose="02020603050405020304" pitchFamily="18" charset="0"/>
                <a:cs typeface="Times New Roman" panose="02020603050405020304" pitchFamily="18" charset="0"/>
              </a:rPr>
              <a:t>Operating System 		-	Windows XP</a:t>
            </a:r>
            <a:endParaRPr lang="en-IN" sz="2200" dirty="0">
              <a:latin typeface="Times New Roman" panose="02020603050405020304" pitchFamily="18" charset="0"/>
              <a:cs typeface="Times New Roman" panose="02020603050405020304" pitchFamily="18" charset="0"/>
            </a:endParaRPr>
          </a:p>
          <a:p>
            <a:pPr lvl="0" algn="just"/>
            <a:r>
              <a:rPr lang="en-US" sz="2200" dirty="0">
                <a:latin typeface="Times New Roman" panose="02020603050405020304" pitchFamily="18" charset="0"/>
                <a:cs typeface="Times New Roman" panose="02020603050405020304" pitchFamily="18" charset="0"/>
              </a:rPr>
              <a:t>Coding Language		- 	Java/J2EE(JSP, Servlet)</a:t>
            </a:r>
            <a:endParaRPr lang="en-IN" sz="2200" dirty="0">
              <a:latin typeface="Times New Roman" panose="02020603050405020304" pitchFamily="18" charset="0"/>
              <a:cs typeface="Times New Roman" panose="02020603050405020304" pitchFamily="18" charset="0"/>
            </a:endParaRPr>
          </a:p>
          <a:p>
            <a:pPr lvl="0" algn="just"/>
            <a:r>
              <a:rPr lang="en-US" sz="2200" dirty="0">
                <a:latin typeface="Times New Roman" panose="02020603050405020304" pitchFamily="18" charset="0"/>
                <a:cs typeface="Times New Roman" panose="02020603050405020304" pitchFamily="18" charset="0"/>
              </a:rPr>
              <a:t>Front End			-	J2EE</a:t>
            </a:r>
            <a:endParaRPr lang="en-IN" sz="2200" dirty="0">
              <a:latin typeface="Times New Roman" panose="02020603050405020304" pitchFamily="18" charset="0"/>
              <a:cs typeface="Times New Roman" panose="02020603050405020304" pitchFamily="18" charset="0"/>
            </a:endParaRPr>
          </a:p>
          <a:p>
            <a:pPr lvl="0" algn="just"/>
            <a:r>
              <a:rPr lang="en-US" sz="2200" dirty="0">
                <a:latin typeface="Times New Roman" panose="02020603050405020304" pitchFamily="18" charset="0"/>
                <a:cs typeface="Times New Roman" panose="02020603050405020304" pitchFamily="18" charset="0"/>
              </a:rPr>
              <a:t>Back End			-	MySQL</a:t>
            </a:r>
            <a:endParaRPr lang="en-IN" sz="22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5" name="Title 1"/>
          <p:cNvSpPr txBox="1"/>
          <p:nvPr/>
        </p:nvSpPr>
        <p:spPr>
          <a:xfrm>
            <a:off x="599441" y="3637632"/>
            <a:ext cx="7850094" cy="670208"/>
          </a:xfrm>
          <a:prstGeom prst="rect">
            <a:avLst/>
          </a:prstGeom>
        </p:spPr>
        <p:txBody>
          <a:bodyPr vert="horz" lIns="91440" tIns="45720" rIns="91440" bIns="45720" rtlCol="0" anchor="ctr">
            <a:normAutofit lnSpcReduction="10000"/>
          </a:bodyPr>
          <a:lstStyle/>
          <a:p>
            <a:pPr marL="0" marR="0" lvl="0" indent="0" algn="ctr" defTabSz="914400" rtl="0" eaLnBrk="1" fontAlgn="auto" latinLnBrk="0" hangingPunct="1">
              <a:lnSpc>
                <a:spcPct val="100000"/>
              </a:lnSpc>
              <a:spcBef>
                <a:spcPct val="0"/>
              </a:spcBef>
              <a:spcAft>
                <a:spcPts val="0"/>
              </a:spcAft>
              <a:buClrTx/>
              <a:buSzTx/>
              <a:buFontTx/>
              <a:buNone/>
              <a:defRPr/>
            </a:pPr>
            <a:r>
              <a:rPr lang="en-IN" altLang="en-US" sz="4000" b="1" dirty="0">
                <a:solidFill>
                  <a:schemeClr val="tx2"/>
                </a:solidFill>
                <a:latin typeface="Times New Roman" panose="02020603050405020304" charset="0"/>
                <a:ea typeface="+mj-ea"/>
                <a:cs typeface="Times New Roman" panose="02020603050405020304" charset="0"/>
              </a:rPr>
              <a:t>HARD</a:t>
            </a:r>
            <a:r>
              <a:rPr kumimoji="0" lang="en-IN" altLang="en-US" sz="4000" b="1" i="0" u="none" strike="noStrike" kern="1200" cap="none" spc="0" normalizeH="0" baseline="0" noProof="0" dirty="0">
                <a:ln>
                  <a:noFill/>
                </a:ln>
                <a:solidFill>
                  <a:schemeClr val="tx2"/>
                </a:solidFill>
                <a:effectLst/>
                <a:uLnTx/>
                <a:uFillTx/>
                <a:latin typeface="Times New Roman" panose="02020603050405020304" charset="0"/>
                <a:ea typeface="+mj-ea"/>
                <a:cs typeface="Times New Roman" panose="02020603050405020304" charset="0"/>
              </a:rPr>
              <a:t>WARE REQUIREMENTS</a:t>
            </a:r>
            <a:endParaRPr kumimoji="0" lang="en-US" sz="4000" b="0" i="0" u="none" strike="noStrike" kern="1200" cap="none" spc="0" normalizeH="0" baseline="0" noProof="0" dirty="0">
              <a:ln>
                <a:noFill/>
              </a:ln>
              <a:solidFill>
                <a:schemeClr val="tx2"/>
              </a:solidFill>
              <a:effectLst/>
              <a:uLnTx/>
              <a:uFillTx/>
              <a:latin typeface="Times New Roman" panose="02020603050405020304" charset="0"/>
              <a:ea typeface="+mj-ea"/>
              <a:cs typeface="Times New Roman" panose="02020603050405020304" charset="0"/>
            </a:endParaRPr>
          </a:p>
        </p:txBody>
      </p:sp>
      <p:sp>
        <p:nvSpPr>
          <p:cNvPr id="6" name="Content Placeholder 3"/>
          <p:cNvSpPr txBox="1"/>
          <p:nvPr/>
        </p:nvSpPr>
        <p:spPr>
          <a:xfrm>
            <a:off x="851647" y="4830417"/>
            <a:ext cx="7745505" cy="1470992"/>
          </a:xfrm>
          <a:prstGeom prst="rect">
            <a:avLst/>
          </a:prstGeom>
        </p:spPr>
        <p:txBody>
          <a:bodyPr vert="horz" lIns="91440" tIns="45720" rIns="91440" bIns="45720" rtlCol="0">
            <a:normAutofit/>
          </a:bodyPr>
          <a:lstStyle/>
          <a:p>
            <a:pPr marL="365760" marR="0" lvl="0" indent="-365760" algn="l" defTabSz="914400" rtl="0" eaLnBrk="1" fontAlgn="auto" latinLnBrk="0" hangingPunct="1">
              <a:lnSpc>
                <a:spcPct val="100000"/>
              </a:lnSpc>
              <a:spcBef>
                <a:spcPct val="20000"/>
              </a:spcBef>
              <a:spcAft>
                <a:spcPts val="0"/>
              </a:spcAft>
              <a:buClr>
                <a:schemeClr val="accent1"/>
              </a:buClr>
              <a:buSzTx/>
              <a:buFont typeface="Arial" panose="020B0604020202020204" pitchFamily="34" charset="0"/>
              <a:buChar char="•"/>
              <a:defRPr/>
            </a:pPr>
            <a:endParaRPr kumimoji="0" lang="en-US" sz="2400" b="0" i="0" u="none" strike="noStrike" kern="1200" cap="none" spc="0" normalizeH="0" baseline="0" noProof="0" dirty="0">
              <a:ln>
                <a:noFill/>
              </a:ln>
              <a:solidFill>
                <a:schemeClr val="tx1">
                  <a:lumMod val="85000"/>
                  <a:lumOff val="15000"/>
                </a:schemeClr>
              </a:solidFill>
              <a:effectLst/>
              <a:uLnTx/>
              <a:uFillTx/>
              <a:latin typeface="+mn-lt"/>
              <a:ea typeface="+mn-ea"/>
              <a:cs typeface="+mn-cs"/>
            </a:endParaRPr>
          </a:p>
        </p:txBody>
      </p:sp>
      <p:sp>
        <p:nvSpPr>
          <p:cNvPr id="7" name="Content Placeholder 3"/>
          <p:cNvSpPr txBox="1"/>
          <p:nvPr/>
        </p:nvSpPr>
        <p:spPr>
          <a:xfrm>
            <a:off x="699247" y="4651514"/>
            <a:ext cx="7897906" cy="1461051"/>
          </a:xfrm>
          <a:prstGeom prst="rect">
            <a:avLst/>
          </a:prstGeom>
        </p:spPr>
        <p:txBody>
          <a:bodyPr vert="horz" lIns="91440" tIns="45720" rIns="91440" bIns="45720" rtlCol="0">
            <a:normAutofit/>
          </a:bodyPr>
          <a:lstStyle/>
          <a:p>
            <a:pPr marR="0" lvl="0" algn="l" defTabSz="914400" rtl="0" eaLnBrk="1" fontAlgn="auto" latinLnBrk="0" hangingPunct="1">
              <a:lnSpc>
                <a:spcPct val="100000"/>
              </a:lnSpc>
              <a:spcBef>
                <a:spcPct val="20000"/>
              </a:spcBef>
              <a:spcAft>
                <a:spcPts val="0"/>
              </a:spcAft>
              <a:buClr>
                <a:schemeClr val="accent1"/>
              </a:buClr>
              <a:buSzTx/>
              <a:defRPr/>
            </a:pPr>
            <a:endParaRPr kumimoji="0" lang="en-US" b="0" i="0" u="none" strike="noStrike" kern="1200" cap="none" spc="0" normalizeH="0" baseline="0" noProof="0" dirty="0">
              <a:ln>
                <a:noFill/>
              </a:ln>
              <a:solidFill>
                <a:schemeClr val="tx1">
                  <a:lumMod val="85000"/>
                  <a:lumOff val="15000"/>
                </a:schemeClr>
              </a:solidFill>
              <a:effectLst/>
              <a:uLnTx/>
              <a:uFillTx/>
              <a:latin typeface="Times New Roman" panose="02020603050405020304" pitchFamily="18" charset="0"/>
              <a:cs typeface="Times New Roman" panose="02020603050405020304" pitchFamily="18" charset="0"/>
            </a:endParaRPr>
          </a:p>
        </p:txBody>
      </p:sp>
      <p:sp>
        <p:nvSpPr>
          <p:cNvPr id="8" name="Content Placeholder 3"/>
          <p:cNvSpPr txBox="1">
            <a:spLocks/>
          </p:cNvSpPr>
          <p:nvPr/>
        </p:nvSpPr>
        <p:spPr>
          <a:xfrm>
            <a:off x="704029" y="4337568"/>
            <a:ext cx="7745505" cy="2185152"/>
          </a:xfrm>
          <a:prstGeom prst="rect">
            <a:avLst/>
          </a:prstGeom>
        </p:spPr>
        <p:txBody>
          <a:bodyPr vert="horz" lIns="91440" tIns="45720" rIns="91440" bIns="45720" rtlCol="0">
            <a:normAutofit fontScale="92500" lnSpcReduction="20000"/>
          </a:bodyPr>
          <a:lstStyle>
            <a:lvl1pPr marL="365760" indent="-365760" algn="l" defTabSz="914400" rtl="0" eaLnBrk="1" latinLnBrk="0" hangingPunct="1">
              <a:spcBef>
                <a:spcPct val="20000"/>
              </a:spcBef>
              <a:buClr>
                <a:schemeClr val="accent1"/>
              </a:buClr>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anose="05000000000000000000"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9pPr>
          </a:lstStyle>
          <a:p>
            <a:pPr algn="just"/>
            <a:r>
              <a:rPr lang="en-US" sz="1800" dirty="0">
                <a:latin typeface="Times New Roman" panose="02020603050405020304" pitchFamily="18" charset="0"/>
                <a:cs typeface="Times New Roman" panose="02020603050405020304" pitchFamily="18" charset="0"/>
              </a:rPr>
              <a:t>Processor                                           </a:t>
            </a:r>
            <a:r>
              <a:rPr lang="en-US" dirty="0"/>
              <a:t>-</a:t>
            </a:r>
            <a:r>
              <a:rPr lang="en-US" sz="1800" dirty="0">
                <a:latin typeface="Times New Roman" panose="02020603050405020304" pitchFamily="18" charset="0"/>
                <a:cs typeface="Times New Roman" panose="02020603050405020304" pitchFamily="18" charset="0"/>
              </a:rPr>
              <a:t>              Pentium –IV </a:t>
            </a:r>
            <a:endParaRPr lang="en-IN"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RAM                                                 </a:t>
            </a:r>
            <a:r>
              <a:rPr lang="en-US" dirty="0"/>
              <a:t>-           </a:t>
            </a:r>
            <a:r>
              <a:rPr lang="en-US" sz="1800" dirty="0">
                <a:latin typeface="Times New Roman" panose="02020603050405020304" pitchFamily="18" charset="0"/>
                <a:cs typeface="Times New Roman" panose="02020603050405020304" pitchFamily="18" charset="0"/>
              </a:rPr>
              <a:t>4 GB (min)</a:t>
            </a:r>
            <a:endParaRPr lang="en-IN"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Hard Disk                                          </a:t>
            </a:r>
            <a:r>
              <a:rPr lang="en-US" dirty="0"/>
              <a:t>-           </a:t>
            </a:r>
            <a:r>
              <a:rPr lang="en-US" sz="1800" dirty="0">
                <a:latin typeface="Times New Roman" panose="02020603050405020304" pitchFamily="18" charset="0"/>
                <a:cs typeface="Times New Roman" panose="02020603050405020304" pitchFamily="18" charset="0"/>
              </a:rPr>
              <a:t>20 GB</a:t>
            </a:r>
            <a:endParaRPr lang="en-IN"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Key Board                                         </a:t>
            </a:r>
            <a:r>
              <a:rPr lang="en-US" dirty="0"/>
              <a:t>-           </a:t>
            </a:r>
            <a:r>
              <a:rPr lang="en-US" sz="1800" dirty="0">
                <a:latin typeface="Times New Roman" panose="02020603050405020304" pitchFamily="18" charset="0"/>
                <a:cs typeface="Times New Roman" panose="02020603050405020304" pitchFamily="18" charset="0"/>
              </a:rPr>
              <a:t>Standard Windows Keyboard</a:t>
            </a:r>
            <a:endParaRPr lang="en-IN"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Mouse                                                </a:t>
            </a:r>
            <a:r>
              <a:rPr lang="en-US" dirty="0"/>
              <a:t>-           </a:t>
            </a:r>
            <a:r>
              <a:rPr lang="en-US" sz="1800" dirty="0">
                <a:latin typeface="Times New Roman" panose="02020603050405020304" pitchFamily="18" charset="0"/>
                <a:cs typeface="Times New Roman" panose="02020603050405020304" pitchFamily="18" charset="0"/>
              </a:rPr>
              <a:t>Two or Three Button Mouse</a:t>
            </a:r>
            <a:endParaRPr lang="en-IN"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Monitor                                              </a:t>
            </a:r>
            <a:r>
              <a:rPr lang="en-US" dirty="0"/>
              <a:t>-           </a:t>
            </a:r>
            <a:r>
              <a:rPr lang="en-US" sz="1800" dirty="0">
                <a:latin typeface="Times New Roman" panose="02020603050405020304" pitchFamily="18" charset="0"/>
                <a:cs typeface="Times New Roman" panose="02020603050405020304" pitchFamily="18" charset="0"/>
              </a:rPr>
              <a:t>SVGA</a:t>
            </a:r>
            <a:endParaRPr lang="en-IN" sz="1800" dirty="0">
              <a:latin typeface="Times New Roman" panose="02020603050405020304" pitchFamily="18" charset="0"/>
              <a:cs typeface="Times New Roman" panose="02020603050405020304" pitchFamily="18" charset="0"/>
            </a:endParaRPr>
          </a:p>
          <a:p>
            <a:pPr marL="0" indent="0" algn="just">
              <a:buFont typeface="Wingdings" panose="05000000000000000000" pitchFamily="2" charset="2"/>
              <a:buNone/>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3512" y="2550695"/>
            <a:ext cx="8460605" cy="3575467"/>
          </a:xfrm>
        </p:spPr>
        <p:txBody>
          <a:bodyPr>
            <a:noAutofit/>
          </a:bodyPr>
          <a:lstStyle/>
          <a:p>
            <a:pPr algn="just"/>
            <a:endParaRPr lang="en-US" sz="1800" dirty="0"/>
          </a:p>
          <a:p>
            <a:pPr algn="just">
              <a:buNone/>
            </a:pPr>
            <a:endParaRPr lang="en-US" sz="1800" dirty="0"/>
          </a:p>
          <a:p>
            <a:pPr algn="just">
              <a:buNone/>
            </a:pPr>
            <a:endParaRPr lang="en-US" sz="1800" dirty="0"/>
          </a:p>
        </p:txBody>
      </p:sp>
      <p:sp>
        <p:nvSpPr>
          <p:cNvPr id="2" name="Title 1"/>
          <p:cNvSpPr>
            <a:spLocks noGrp="1"/>
          </p:cNvSpPr>
          <p:nvPr>
            <p:ph type="title"/>
          </p:nvPr>
        </p:nvSpPr>
        <p:spPr/>
        <p:txBody>
          <a:bodyPr>
            <a:normAutofit/>
          </a:bodyPr>
          <a:lstStyle/>
          <a:p>
            <a:r>
              <a:rPr lang="en-IN" altLang="en-US" b="1" dirty="0">
                <a:latin typeface="Times New Roman" panose="02020603050405020304" charset="0"/>
                <a:cs typeface="Times New Roman" panose="02020603050405020304" charset="0"/>
              </a:rPr>
              <a:t>ARCHITECTURE</a:t>
            </a:r>
            <a:endParaRPr lang="en-US" b="1" dirty="0">
              <a:latin typeface="Times New Roman" panose="02020603050405020304" charset="0"/>
              <a:cs typeface="Times New Roman" panose="02020603050405020304" charset="0"/>
            </a:endParaRPr>
          </a:p>
        </p:txBody>
      </p:sp>
      <p:sp>
        <p:nvSpPr>
          <p:cNvPr id="4" name="Rectangle 11"/>
          <p:cNvSpPr>
            <a:spLocks noChangeArrowheads="1"/>
          </p:cNvSpPr>
          <p:nvPr/>
        </p:nvSpPr>
        <p:spPr bwMode="auto">
          <a:xfrm>
            <a:off x="857251" y="2808028"/>
            <a:ext cx="1245055" cy="538399"/>
          </a:xfrm>
          <a:prstGeom prst="rect">
            <a:avLst/>
          </a:prstGeom>
          <a:gradFill rotWithShape="0">
            <a:gsLst>
              <a:gs pos="0">
                <a:srgbClr val="B2A1C7"/>
              </a:gs>
              <a:gs pos="50000">
                <a:srgbClr val="8064A2"/>
              </a:gs>
              <a:gs pos="100000">
                <a:srgbClr val="B2A1C7"/>
              </a:gs>
            </a:gsLst>
            <a:lin ang="5400000" scaled="1"/>
          </a:gradFill>
          <a:ln w="12700">
            <a:solidFill>
              <a:srgbClr val="8064A2"/>
            </a:solidFill>
            <a:miter lim="800000"/>
            <a:headEnd/>
            <a:tailEnd/>
          </a:ln>
          <a:effectLst>
            <a:outerShdw dist="28398" dir="3806097" algn="ctr" rotWithShape="0">
              <a:srgbClr val="3F3151"/>
            </a:outerShdw>
          </a:effec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Web Server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AutoShape 14"/>
          <p:cNvSpPr>
            <a:spLocks noChangeShapeType="1"/>
          </p:cNvSpPr>
          <p:nvPr/>
        </p:nvSpPr>
        <p:spPr bwMode="auto">
          <a:xfrm flipV="1">
            <a:off x="2102305" y="2911234"/>
            <a:ext cx="3539083" cy="45719"/>
          </a:xfrm>
          <a:prstGeom prst="straightConnector1">
            <a:avLst/>
          </a:prstGeom>
          <a:noFill/>
          <a:ln w="12700">
            <a:solidFill>
              <a:srgbClr val="00B05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11" name="AutoShape 3"/>
          <p:cNvSpPr>
            <a:spLocks noChangeShapeType="1"/>
          </p:cNvSpPr>
          <p:nvPr/>
        </p:nvSpPr>
        <p:spPr bwMode="auto">
          <a:xfrm flipV="1">
            <a:off x="6565139" y="4300553"/>
            <a:ext cx="45719" cy="532618"/>
          </a:xfrm>
          <a:prstGeom prst="straightConnector1">
            <a:avLst/>
          </a:prstGeom>
          <a:noFill/>
          <a:ln w="12700">
            <a:solidFill>
              <a:srgbClr val="C0504D"/>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12" name="AutoShape 9"/>
          <p:cNvSpPr>
            <a:spLocks noChangeShapeType="1"/>
          </p:cNvSpPr>
          <p:nvPr/>
        </p:nvSpPr>
        <p:spPr bwMode="auto">
          <a:xfrm>
            <a:off x="1468248" y="3327391"/>
            <a:ext cx="45719" cy="1497926"/>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 name="AutoShape 13"/>
          <p:cNvSpPr>
            <a:spLocks noChangeArrowheads="1"/>
          </p:cNvSpPr>
          <p:nvPr/>
        </p:nvSpPr>
        <p:spPr bwMode="auto">
          <a:xfrm>
            <a:off x="5641389" y="2064403"/>
            <a:ext cx="3125200" cy="2102866"/>
          </a:xfrm>
          <a:prstGeom prst="roundRect">
            <a:avLst>
              <a:gd name="adj" fmla="val 16667"/>
            </a:avLst>
          </a:prstGeom>
          <a:gradFill rotWithShape="0">
            <a:gsLst>
              <a:gs pos="0">
                <a:srgbClr val="D99594"/>
              </a:gs>
              <a:gs pos="50000">
                <a:srgbClr val="C0504D"/>
              </a:gs>
              <a:gs pos="100000">
                <a:srgbClr val="D99594"/>
              </a:gs>
            </a:gsLst>
            <a:lin ang="5400000" scaled="1"/>
          </a:gradFill>
          <a:ln w="12700">
            <a:solidFill>
              <a:srgbClr val="C0504D"/>
            </a:solidFill>
            <a:round/>
            <a:headEnd/>
            <a:tailEnd/>
          </a:ln>
          <a:effectLst>
            <a:outerShdw dist="28398" dir="3806097" algn="ctr" rotWithShape="0">
              <a:srgbClr val="622423"/>
            </a:outerShdw>
          </a:effec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Admin</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Login,</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View All Users and Authorize,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View All Datasets,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View All Datasets By Finite State Markov Chain,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View Evaluation Results,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View Payment Type Results, </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View Delivery Status Results.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AutoShape 12"/>
          <p:cNvSpPr>
            <a:spLocks noChangeShapeType="1"/>
          </p:cNvSpPr>
          <p:nvPr/>
        </p:nvSpPr>
        <p:spPr bwMode="auto">
          <a:xfrm flipH="1">
            <a:off x="2102306" y="3219659"/>
            <a:ext cx="3539082" cy="45719"/>
          </a:xfrm>
          <a:prstGeom prst="straightConnector1">
            <a:avLst/>
          </a:prstGeom>
          <a:noFill/>
          <a:ln w="12700">
            <a:solidFill>
              <a:srgbClr val="00B05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18" name="AutoShape 5"/>
          <p:cNvSpPr>
            <a:spLocks noChangeArrowheads="1"/>
          </p:cNvSpPr>
          <p:nvPr/>
        </p:nvSpPr>
        <p:spPr bwMode="auto">
          <a:xfrm>
            <a:off x="688490" y="4825317"/>
            <a:ext cx="1400533" cy="1517833"/>
          </a:xfrm>
          <a:prstGeom prst="can">
            <a:avLst>
              <a:gd name="adj" fmla="val 28151"/>
            </a:avLst>
          </a:prstGeom>
          <a:solidFill>
            <a:srgbClr val="F79646"/>
          </a:solidFill>
          <a:ln w="38100">
            <a:solidFill>
              <a:srgbClr val="F2F2F2"/>
            </a:solidFill>
            <a:round/>
            <a:headEnd/>
            <a:tailEnd/>
          </a:ln>
          <a:effectLst>
            <a:outerShdw dist="28398" dir="3806097" algn="ctr" rotWithShape="0">
              <a:srgbClr val="974706">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WEB Database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AutoShape 6"/>
          <p:cNvSpPr>
            <a:spLocks noChangeShapeType="1"/>
          </p:cNvSpPr>
          <p:nvPr/>
        </p:nvSpPr>
        <p:spPr bwMode="auto">
          <a:xfrm flipV="1">
            <a:off x="2124963" y="3750787"/>
            <a:ext cx="3516425" cy="2129037"/>
          </a:xfrm>
          <a:prstGeom prst="straightConnector1">
            <a:avLst/>
          </a:prstGeom>
          <a:noFill/>
          <a:ln w="12700">
            <a:solidFill>
              <a:srgbClr val="4BACC6"/>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20" name="AutoShape 4"/>
          <p:cNvSpPr>
            <a:spLocks noChangeShapeType="1"/>
          </p:cNvSpPr>
          <p:nvPr/>
        </p:nvSpPr>
        <p:spPr bwMode="auto">
          <a:xfrm flipV="1">
            <a:off x="7115312" y="4330755"/>
            <a:ext cx="131205" cy="762803"/>
          </a:xfrm>
          <a:prstGeom prst="straightConnector1">
            <a:avLst/>
          </a:prstGeom>
          <a:noFill/>
          <a:ln w="12700">
            <a:solidFill>
              <a:srgbClr val="F79646"/>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endParaRPr lang="en-IN"/>
          </a:p>
        </p:txBody>
      </p:sp>
      <p:sp>
        <p:nvSpPr>
          <p:cNvPr id="21" name="Rectangle 16"/>
          <p:cNvSpPr>
            <a:spLocks noChangeArrowheads="1"/>
          </p:cNvSpPr>
          <p:nvPr/>
        </p:nvSpPr>
        <p:spPr bwMode="auto">
          <a:xfrm>
            <a:off x="1339851" y="1876506"/>
            <a:ext cx="803981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22" name="Rectangle 18"/>
          <p:cNvSpPr>
            <a:spLocks noChangeArrowheads="1"/>
          </p:cNvSpPr>
          <p:nvPr/>
        </p:nvSpPr>
        <p:spPr bwMode="auto">
          <a:xfrm>
            <a:off x="1339851" y="1733542"/>
            <a:ext cx="803981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23"/>
          <p:cNvSpPr>
            <a:spLocks noChangeArrowheads="1"/>
          </p:cNvSpPr>
          <p:nvPr/>
        </p:nvSpPr>
        <p:spPr bwMode="auto">
          <a:xfrm>
            <a:off x="1339851" y="1825875"/>
            <a:ext cx="803981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Rectangle 26"/>
          <p:cNvSpPr>
            <a:spLocks noChangeArrowheads="1"/>
          </p:cNvSpPr>
          <p:nvPr/>
        </p:nvSpPr>
        <p:spPr bwMode="auto">
          <a:xfrm>
            <a:off x="1339851" y="2064402"/>
            <a:ext cx="8039819"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708525" algn="l"/>
              </a:tabLst>
              <a:defRPr>
                <a:solidFill>
                  <a:schemeClr val="tx1"/>
                </a:solidFill>
                <a:latin typeface="Arial" panose="020B0604020202020204" pitchFamily="34" charset="0"/>
              </a:defRPr>
            </a:lvl1pPr>
            <a:lvl2pPr eaLnBrk="0" fontAlgn="base" hangingPunct="0">
              <a:spcBef>
                <a:spcPct val="0"/>
              </a:spcBef>
              <a:spcAft>
                <a:spcPct val="0"/>
              </a:spcAft>
              <a:tabLst>
                <a:tab pos="4708525" algn="l"/>
              </a:tabLst>
              <a:defRPr>
                <a:solidFill>
                  <a:schemeClr val="tx1"/>
                </a:solidFill>
                <a:latin typeface="Arial" panose="020B0604020202020204" pitchFamily="34" charset="0"/>
              </a:defRPr>
            </a:lvl2pPr>
            <a:lvl3pPr eaLnBrk="0" fontAlgn="base" hangingPunct="0">
              <a:spcBef>
                <a:spcPct val="0"/>
              </a:spcBef>
              <a:spcAft>
                <a:spcPct val="0"/>
              </a:spcAft>
              <a:tabLst>
                <a:tab pos="4708525" algn="l"/>
              </a:tabLst>
              <a:defRPr>
                <a:solidFill>
                  <a:schemeClr val="tx1"/>
                </a:solidFill>
                <a:latin typeface="Arial" panose="020B0604020202020204" pitchFamily="34" charset="0"/>
              </a:defRPr>
            </a:lvl3pPr>
            <a:lvl4pPr eaLnBrk="0" fontAlgn="base" hangingPunct="0">
              <a:spcBef>
                <a:spcPct val="0"/>
              </a:spcBef>
              <a:spcAft>
                <a:spcPct val="0"/>
              </a:spcAft>
              <a:tabLst>
                <a:tab pos="4708525" algn="l"/>
              </a:tabLst>
              <a:defRPr>
                <a:solidFill>
                  <a:schemeClr val="tx1"/>
                </a:solidFill>
                <a:latin typeface="Arial" panose="020B0604020202020204" pitchFamily="34" charset="0"/>
              </a:defRPr>
            </a:lvl4pPr>
            <a:lvl5pPr eaLnBrk="0" fontAlgn="base" hangingPunct="0">
              <a:spcBef>
                <a:spcPct val="0"/>
              </a:spcBef>
              <a:spcAft>
                <a:spcPct val="0"/>
              </a:spcAft>
              <a:tabLst>
                <a:tab pos="4708525" algn="l"/>
              </a:tabLst>
              <a:defRPr>
                <a:solidFill>
                  <a:schemeClr val="tx1"/>
                </a:solidFill>
                <a:latin typeface="Arial" panose="020B0604020202020204" pitchFamily="34" charset="0"/>
              </a:defRPr>
            </a:lvl5pPr>
            <a:lvl6pPr eaLnBrk="0" fontAlgn="base" hangingPunct="0">
              <a:spcBef>
                <a:spcPct val="0"/>
              </a:spcBef>
              <a:spcAft>
                <a:spcPct val="0"/>
              </a:spcAft>
              <a:tabLst>
                <a:tab pos="4708525" algn="l"/>
              </a:tabLst>
              <a:defRPr>
                <a:solidFill>
                  <a:schemeClr val="tx1"/>
                </a:solidFill>
                <a:latin typeface="Arial" panose="020B0604020202020204" pitchFamily="34" charset="0"/>
              </a:defRPr>
            </a:lvl6pPr>
            <a:lvl7pPr eaLnBrk="0" fontAlgn="base" hangingPunct="0">
              <a:spcBef>
                <a:spcPct val="0"/>
              </a:spcBef>
              <a:spcAft>
                <a:spcPct val="0"/>
              </a:spcAft>
              <a:tabLst>
                <a:tab pos="4708525" algn="l"/>
              </a:tabLst>
              <a:defRPr>
                <a:solidFill>
                  <a:schemeClr val="tx1"/>
                </a:solidFill>
                <a:latin typeface="Arial" panose="020B0604020202020204" pitchFamily="34" charset="0"/>
              </a:defRPr>
            </a:lvl7pPr>
            <a:lvl8pPr eaLnBrk="0" fontAlgn="base" hangingPunct="0">
              <a:spcBef>
                <a:spcPct val="0"/>
              </a:spcBef>
              <a:spcAft>
                <a:spcPct val="0"/>
              </a:spcAft>
              <a:tabLst>
                <a:tab pos="4708525" algn="l"/>
              </a:tabLst>
              <a:defRPr>
                <a:solidFill>
                  <a:schemeClr val="tx1"/>
                </a:solidFill>
                <a:latin typeface="Arial" panose="020B0604020202020204" pitchFamily="34" charset="0"/>
              </a:defRPr>
            </a:lvl8pPr>
            <a:lvl9pPr eaLnBrk="0" fontAlgn="base" hangingPunct="0">
              <a:spcBef>
                <a:spcPct val="0"/>
              </a:spcBef>
              <a:spcAft>
                <a:spcPct val="0"/>
              </a:spcAft>
              <a:tabLst>
                <a:tab pos="47085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708525" algn="l"/>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4708525" algn="l"/>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Rectangle 28"/>
          <p:cNvSpPr>
            <a:spLocks noChangeArrowheads="1"/>
          </p:cNvSpPr>
          <p:nvPr/>
        </p:nvSpPr>
        <p:spPr bwMode="auto">
          <a:xfrm>
            <a:off x="1339851" y="2333706"/>
            <a:ext cx="8039819"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pic>
        <p:nvPicPr>
          <p:cNvPr id="5" name="Picture 4"/>
          <p:cNvPicPr>
            <a:picLocks noChangeAspect="1"/>
          </p:cNvPicPr>
          <p:nvPr/>
        </p:nvPicPr>
        <p:blipFill>
          <a:blip r:embed="rId2"/>
          <a:stretch>
            <a:fillRect/>
          </a:stretch>
        </p:blipFill>
        <p:spPr>
          <a:xfrm>
            <a:off x="5189837" y="5191363"/>
            <a:ext cx="3447535" cy="1499616"/>
          </a:xfrm>
          <a:prstGeom prst="rect">
            <a:avLst/>
          </a:prstGeom>
        </p:spPr>
      </p:pic>
      <p:pic>
        <p:nvPicPr>
          <p:cNvPr id="7" name="Picture 6"/>
          <p:cNvPicPr>
            <a:picLocks noChangeAspect="1"/>
          </p:cNvPicPr>
          <p:nvPr/>
        </p:nvPicPr>
        <p:blipFill>
          <a:blip r:embed="rId3"/>
          <a:stretch>
            <a:fillRect/>
          </a:stretch>
        </p:blipFill>
        <p:spPr>
          <a:xfrm>
            <a:off x="5837228" y="4823872"/>
            <a:ext cx="1153668" cy="411480"/>
          </a:xfrm>
          <a:prstGeom prst="rect">
            <a:avLst/>
          </a:prstGeom>
        </p:spPr>
      </p:pic>
      <p:sp>
        <p:nvSpPr>
          <p:cNvPr id="10" name="Rectangle 9"/>
          <p:cNvSpPr/>
          <p:nvPr/>
        </p:nvSpPr>
        <p:spPr>
          <a:xfrm>
            <a:off x="2049307" y="4807346"/>
            <a:ext cx="2110604" cy="369332"/>
          </a:xfrm>
          <a:prstGeom prst="rect">
            <a:avLst/>
          </a:prstGeom>
        </p:spPr>
        <p:txBody>
          <a:bodyPr wrap="square">
            <a:spAutoFit/>
          </a:bodyPr>
          <a:lstStyle/>
          <a:p>
            <a:r>
              <a:rPr lang="en-US"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Store and retrievals</a:t>
            </a:r>
            <a:endParaRPr lang="en-IN" dirty="0"/>
          </a:p>
        </p:txBody>
      </p:sp>
      <p:sp>
        <p:nvSpPr>
          <p:cNvPr id="13" name="Rectangle 12"/>
          <p:cNvSpPr/>
          <p:nvPr/>
        </p:nvSpPr>
        <p:spPr>
          <a:xfrm>
            <a:off x="2660063" y="3343418"/>
            <a:ext cx="2475486" cy="369332"/>
          </a:xfrm>
          <a:prstGeom prst="rect">
            <a:avLst/>
          </a:prstGeom>
        </p:spPr>
        <p:txBody>
          <a:bodyPr wrap="none">
            <a:spAutoFit/>
          </a:bodyPr>
          <a:lstStyle/>
          <a:p>
            <a:r>
              <a:rPr lang="en-US" dirty="0">
                <a:latin typeface="Calibri" panose="020F0502020204030204" pitchFamily="34" charset="0"/>
                <a:ea typeface="Calibri" panose="020F0502020204030204" pitchFamily="34" charset="0"/>
                <a:cs typeface="Times New Roman" panose="02020603050405020304" pitchFamily="18" charset="0"/>
              </a:rPr>
              <a:t>Datasets Results Storage</a:t>
            </a:r>
            <a:endParaRPr lang="en-IN" dirty="0"/>
          </a:p>
        </p:txBody>
      </p:sp>
      <p:sp>
        <p:nvSpPr>
          <p:cNvPr id="15" name="Rectangle 14"/>
          <p:cNvSpPr/>
          <p:nvPr/>
        </p:nvSpPr>
        <p:spPr>
          <a:xfrm>
            <a:off x="2405289" y="2552349"/>
            <a:ext cx="2597442" cy="369332"/>
          </a:xfrm>
          <a:prstGeom prst="rect">
            <a:avLst/>
          </a:prstGeom>
        </p:spPr>
        <p:txBody>
          <a:bodyPr wrap="none">
            <a:spAutoFit/>
          </a:bodyPr>
          <a:lstStyle/>
          <a:p>
            <a:r>
              <a:rPr lang="en-US" dirty="0">
                <a:latin typeface="Calibri" panose="020F0502020204030204" pitchFamily="34" charset="0"/>
                <a:ea typeface="Calibri" panose="020F0502020204030204" pitchFamily="34" charset="0"/>
                <a:cs typeface="Times New Roman" panose="02020603050405020304" pitchFamily="18" charset="0"/>
              </a:rPr>
              <a:t>Accepting all  Information</a:t>
            </a:r>
            <a:endParaRPr lang="en-IN" dirty="0"/>
          </a:p>
        </p:txBody>
      </p:sp>
      <p:cxnSp>
        <p:nvCxnSpPr>
          <p:cNvPr id="1026" name="AutoShape 2"/>
          <p:cNvCxnSpPr>
            <a:cxnSpLocks noChangeShapeType="1"/>
          </p:cNvCxnSpPr>
          <p:nvPr/>
        </p:nvCxnSpPr>
        <p:spPr bwMode="auto">
          <a:xfrm>
            <a:off x="1884849" y="3377209"/>
            <a:ext cx="3304988" cy="2748953"/>
          </a:xfrm>
          <a:prstGeom prst="straightConnector1">
            <a:avLst/>
          </a:prstGeom>
          <a:noFill/>
          <a:ln w="12700">
            <a:solidFill>
              <a:srgbClr val="00B05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cxnSp>
      <p:sp>
        <p:nvSpPr>
          <p:cNvPr id="26" name="Rectangle 25"/>
          <p:cNvSpPr/>
          <p:nvPr/>
        </p:nvSpPr>
        <p:spPr>
          <a:xfrm>
            <a:off x="247249" y="3632743"/>
            <a:ext cx="1122893" cy="729430"/>
          </a:xfrm>
          <a:prstGeom prst="rect">
            <a:avLst/>
          </a:prstGeom>
        </p:spPr>
        <p:txBody>
          <a:bodyPr wrap="square">
            <a:spAutoFit/>
          </a:bodyPr>
          <a:lstStyle/>
          <a:p>
            <a:pPr>
              <a:lnSpc>
                <a:spcPct val="115000"/>
              </a:lnSpc>
              <a:spcAft>
                <a:spcPts val="1000"/>
              </a:spcAft>
            </a:pPr>
            <a:r>
              <a:rPr lang="en-US" dirty="0">
                <a:latin typeface="Calibri" panose="020F0502020204030204" pitchFamily="34" charset="0"/>
                <a:ea typeface="Calibri" panose="020F0502020204030204" pitchFamily="34" charset="0"/>
                <a:cs typeface="Times New Roman" panose="02020603050405020304" pitchFamily="18" charset="0"/>
              </a:rPr>
              <a:t>Accessing Data</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sp>
        <p:nvSpPr>
          <p:cNvPr id="29" name="Rectangle 28"/>
          <p:cNvSpPr/>
          <p:nvPr/>
        </p:nvSpPr>
        <p:spPr>
          <a:xfrm>
            <a:off x="1569006" y="3679339"/>
            <a:ext cx="1091057" cy="1047979"/>
          </a:xfrm>
          <a:prstGeom prst="rect">
            <a:avLst/>
          </a:prstGeom>
        </p:spPr>
        <p:txBody>
          <a:bodyPr wrap="square">
            <a:spAutoFit/>
          </a:bodyPr>
          <a:lstStyle/>
          <a:p>
            <a:pPr>
              <a:lnSpc>
                <a:spcPct val="115000"/>
              </a:lnSpc>
              <a:spcAft>
                <a:spcPts val="1000"/>
              </a:spcAft>
            </a:pPr>
            <a:r>
              <a:rPr lang="en-US" dirty="0">
                <a:latin typeface="Calibri" panose="020F0502020204030204" pitchFamily="34" charset="0"/>
                <a:ea typeface="Calibri" panose="020F0502020204030204" pitchFamily="34" charset="0"/>
                <a:cs typeface="Times New Roman" panose="02020603050405020304" pitchFamily="18" charset="0"/>
              </a:rPr>
              <a:t>Process all user queries</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0889" y="2117559"/>
            <a:ext cx="8296976" cy="4427620"/>
          </a:xfrm>
        </p:spPr>
        <p:txBody>
          <a:bodyPr>
            <a:noAutofit/>
          </a:bodyPr>
          <a:lstStyle/>
          <a:p>
            <a:endParaRPr lang="en-US" sz="2000" dirty="0"/>
          </a:p>
          <a:p>
            <a:pPr>
              <a:buNone/>
            </a:pPr>
            <a:endParaRPr lang="en-US" sz="2000" dirty="0"/>
          </a:p>
          <a:p>
            <a:endParaRPr lang="en-US" sz="2000" dirty="0"/>
          </a:p>
          <a:p>
            <a:endParaRPr lang="en-US" sz="1800" dirty="0"/>
          </a:p>
        </p:txBody>
      </p:sp>
      <p:sp>
        <p:nvSpPr>
          <p:cNvPr id="5" name="Title 1"/>
          <p:cNvSpPr>
            <a:spLocks noGrp="1"/>
          </p:cNvSpPr>
          <p:nvPr>
            <p:ph type="title"/>
          </p:nvPr>
        </p:nvSpPr>
        <p:spPr>
          <a:xfrm>
            <a:off x="298450" y="569913"/>
            <a:ext cx="8656638" cy="1054100"/>
          </a:xfrm>
        </p:spPr>
        <p:txBody>
          <a:bodyPr>
            <a:noAutofit/>
          </a:bodyPr>
          <a:lstStyle/>
          <a:p>
            <a:r>
              <a:rPr lang="en-IN" altLang="en-US" sz="2800" b="1" dirty="0">
                <a:latin typeface="Times New Roman" panose="02020603050405020304" charset="0"/>
                <a:cs typeface="Times New Roman" panose="02020603050405020304" charset="0"/>
              </a:rPr>
              <a:t>IMPLEMENTATION RESULTS AND TEST CASES</a:t>
            </a:r>
            <a:endParaRPr lang="en-US" sz="2800" b="1" dirty="0">
              <a:latin typeface="Times New Roman" panose="02020603050405020304" charset="0"/>
              <a:cs typeface="Times New Roman" panose="02020603050405020304" charset="0"/>
            </a:endParaRPr>
          </a:p>
        </p:txBody>
      </p:sp>
      <p:pic>
        <p:nvPicPr>
          <p:cNvPr id="2" name="Picture 1">
            <a:extLst>
              <a:ext uri="{FF2B5EF4-FFF2-40B4-BE49-F238E27FC236}">
                <a16:creationId xmlns:a16="http://schemas.microsoft.com/office/drawing/2014/main" id="{7060650E-B30D-B5EB-B434-0AE91BC7D7C6}"/>
              </a:ext>
            </a:extLst>
          </p:cNvPr>
          <p:cNvPicPr>
            <a:picLocks noChangeAspect="1"/>
          </p:cNvPicPr>
          <p:nvPr/>
        </p:nvPicPr>
        <p:blipFill>
          <a:blip r:embed="rId2"/>
          <a:stretch>
            <a:fillRect/>
          </a:stretch>
        </p:blipFill>
        <p:spPr>
          <a:xfrm>
            <a:off x="490889" y="2483318"/>
            <a:ext cx="3734602" cy="3804768"/>
          </a:xfrm>
          <a:prstGeom prst="rect">
            <a:avLst/>
          </a:prstGeom>
        </p:spPr>
      </p:pic>
      <p:pic>
        <p:nvPicPr>
          <p:cNvPr id="4" name="Picture 3">
            <a:extLst>
              <a:ext uri="{FF2B5EF4-FFF2-40B4-BE49-F238E27FC236}">
                <a16:creationId xmlns:a16="http://schemas.microsoft.com/office/drawing/2014/main" id="{0B49D986-8CEC-9C0C-8D4E-974A82B1D0A1}"/>
              </a:ext>
            </a:extLst>
          </p:cNvPr>
          <p:cNvPicPr>
            <a:picLocks noChangeAspect="1"/>
          </p:cNvPicPr>
          <p:nvPr/>
        </p:nvPicPr>
        <p:blipFill>
          <a:blip r:embed="rId3"/>
          <a:stretch>
            <a:fillRect/>
          </a:stretch>
        </p:blipFill>
        <p:spPr>
          <a:xfrm>
            <a:off x="4466121" y="2483317"/>
            <a:ext cx="4013736" cy="380476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0889" y="2117559"/>
            <a:ext cx="8296976" cy="4427620"/>
          </a:xfrm>
        </p:spPr>
        <p:txBody>
          <a:bodyPr>
            <a:noAutofit/>
          </a:bodyPr>
          <a:lstStyle/>
          <a:p>
            <a:endParaRPr lang="en-US" sz="2000" dirty="0"/>
          </a:p>
          <a:p>
            <a:pPr>
              <a:buNone/>
            </a:pPr>
            <a:endParaRPr lang="en-US" sz="2000" dirty="0"/>
          </a:p>
          <a:p>
            <a:endParaRPr lang="en-US" sz="2000" dirty="0"/>
          </a:p>
          <a:p>
            <a:endParaRPr lang="en-US" sz="1800" dirty="0"/>
          </a:p>
        </p:txBody>
      </p:sp>
      <p:sp>
        <p:nvSpPr>
          <p:cNvPr id="5" name="Title 1"/>
          <p:cNvSpPr>
            <a:spLocks noGrp="1"/>
          </p:cNvSpPr>
          <p:nvPr>
            <p:ph type="title"/>
          </p:nvPr>
        </p:nvSpPr>
        <p:spPr>
          <a:xfrm>
            <a:off x="298450" y="569913"/>
            <a:ext cx="8656638" cy="1054100"/>
          </a:xfrm>
        </p:spPr>
        <p:txBody>
          <a:bodyPr>
            <a:noAutofit/>
          </a:bodyPr>
          <a:lstStyle/>
          <a:p>
            <a:r>
              <a:rPr lang="en-IN" altLang="en-US" sz="2800" b="1" dirty="0">
                <a:latin typeface="Times New Roman" panose="02020603050405020304" charset="0"/>
                <a:cs typeface="Times New Roman" panose="02020603050405020304" charset="0"/>
              </a:rPr>
              <a:t>IMPLEMENTATION RESULTS AND TEST CASES</a:t>
            </a:r>
            <a:endParaRPr lang="en-US" sz="2800" b="1" dirty="0">
              <a:latin typeface="Times New Roman" panose="02020603050405020304" charset="0"/>
              <a:cs typeface="Times New Roman" panose="02020603050405020304" charset="0"/>
            </a:endParaRPr>
          </a:p>
        </p:txBody>
      </p:sp>
      <p:pic>
        <p:nvPicPr>
          <p:cNvPr id="2" name="Picture 1">
            <a:extLst>
              <a:ext uri="{FF2B5EF4-FFF2-40B4-BE49-F238E27FC236}">
                <a16:creationId xmlns:a16="http://schemas.microsoft.com/office/drawing/2014/main" id="{64D641E2-7304-5089-7ABC-FC994064B79A}"/>
              </a:ext>
            </a:extLst>
          </p:cNvPr>
          <p:cNvPicPr>
            <a:picLocks noChangeAspect="1"/>
          </p:cNvPicPr>
          <p:nvPr/>
        </p:nvPicPr>
        <p:blipFill>
          <a:blip r:embed="rId2"/>
          <a:stretch>
            <a:fillRect/>
          </a:stretch>
        </p:blipFill>
        <p:spPr>
          <a:xfrm>
            <a:off x="356135" y="2348564"/>
            <a:ext cx="4215865" cy="3869356"/>
          </a:xfrm>
          <a:prstGeom prst="rect">
            <a:avLst/>
          </a:prstGeom>
        </p:spPr>
      </p:pic>
      <p:pic>
        <p:nvPicPr>
          <p:cNvPr id="6" name="Picture 5">
            <a:extLst>
              <a:ext uri="{FF2B5EF4-FFF2-40B4-BE49-F238E27FC236}">
                <a16:creationId xmlns:a16="http://schemas.microsoft.com/office/drawing/2014/main" id="{F3ACB64B-0E8E-1C40-6586-77E4FE817379}"/>
              </a:ext>
            </a:extLst>
          </p:cNvPr>
          <p:cNvPicPr>
            <a:picLocks noChangeAspect="1"/>
          </p:cNvPicPr>
          <p:nvPr/>
        </p:nvPicPr>
        <p:blipFill>
          <a:blip r:embed="rId3"/>
          <a:stretch>
            <a:fillRect/>
          </a:stretch>
        </p:blipFill>
        <p:spPr>
          <a:xfrm>
            <a:off x="4706754" y="2348563"/>
            <a:ext cx="3946357" cy="37923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0889" y="2117559"/>
            <a:ext cx="8296976" cy="4427620"/>
          </a:xfrm>
        </p:spPr>
        <p:txBody>
          <a:bodyPr>
            <a:noAutofit/>
          </a:bodyPr>
          <a:lstStyle/>
          <a:p>
            <a:endParaRPr lang="en-US" sz="2000" dirty="0"/>
          </a:p>
          <a:p>
            <a:pPr>
              <a:buNone/>
            </a:pPr>
            <a:endParaRPr lang="en-US" sz="2000" dirty="0"/>
          </a:p>
          <a:p>
            <a:endParaRPr lang="en-US" sz="2000" dirty="0"/>
          </a:p>
          <a:p>
            <a:endParaRPr lang="en-US" sz="1800" dirty="0"/>
          </a:p>
        </p:txBody>
      </p:sp>
      <p:sp>
        <p:nvSpPr>
          <p:cNvPr id="5" name="Title 1"/>
          <p:cNvSpPr>
            <a:spLocks noGrp="1"/>
          </p:cNvSpPr>
          <p:nvPr>
            <p:ph type="title"/>
          </p:nvPr>
        </p:nvSpPr>
        <p:spPr>
          <a:xfrm>
            <a:off x="298450" y="569913"/>
            <a:ext cx="8656638" cy="1054100"/>
          </a:xfrm>
        </p:spPr>
        <p:txBody>
          <a:bodyPr>
            <a:noAutofit/>
          </a:bodyPr>
          <a:lstStyle/>
          <a:p>
            <a:r>
              <a:rPr lang="en-IN" altLang="en-US" sz="2800" b="1" dirty="0">
                <a:latin typeface="Times New Roman" panose="02020603050405020304" charset="0"/>
                <a:cs typeface="Times New Roman" panose="02020603050405020304" charset="0"/>
              </a:rPr>
              <a:t>IMPLEMENTATION RESULTS AND TEST CASES</a:t>
            </a:r>
            <a:endParaRPr lang="en-US" sz="2800" b="1" dirty="0">
              <a:latin typeface="Times New Roman" panose="02020603050405020304" charset="0"/>
              <a:cs typeface="Times New Roman" panose="02020603050405020304" charset="0"/>
            </a:endParaRPr>
          </a:p>
        </p:txBody>
      </p:sp>
      <p:pic>
        <p:nvPicPr>
          <p:cNvPr id="2" name="Picture 1">
            <a:extLst>
              <a:ext uri="{FF2B5EF4-FFF2-40B4-BE49-F238E27FC236}">
                <a16:creationId xmlns:a16="http://schemas.microsoft.com/office/drawing/2014/main" id="{225A4D3D-0510-948B-DC50-E22D89E94DF2}"/>
              </a:ext>
            </a:extLst>
          </p:cNvPr>
          <p:cNvPicPr>
            <a:picLocks noChangeAspect="1"/>
          </p:cNvPicPr>
          <p:nvPr/>
        </p:nvPicPr>
        <p:blipFill>
          <a:blip r:embed="rId2"/>
          <a:stretch>
            <a:fillRect/>
          </a:stretch>
        </p:blipFill>
        <p:spPr>
          <a:xfrm>
            <a:off x="4822257" y="2377439"/>
            <a:ext cx="3830854" cy="3910648"/>
          </a:xfrm>
          <a:prstGeom prst="rect">
            <a:avLst/>
          </a:prstGeom>
        </p:spPr>
      </p:pic>
      <p:pic>
        <p:nvPicPr>
          <p:cNvPr id="6" name="Picture 5">
            <a:extLst>
              <a:ext uri="{FF2B5EF4-FFF2-40B4-BE49-F238E27FC236}">
                <a16:creationId xmlns:a16="http://schemas.microsoft.com/office/drawing/2014/main" id="{53437E79-BB6F-6094-60BC-FB8DA8922EEF}"/>
              </a:ext>
            </a:extLst>
          </p:cNvPr>
          <p:cNvPicPr>
            <a:picLocks noChangeAspect="1"/>
          </p:cNvPicPr>
          <p:nvPr/>
        </p:nvPicPr>
        <p:blipFill>
          <a:blip r:embed="rId3"/>
          <a:stretch>
            <a:fillRect/>
          </a:stretch>
        </p:blipFill>
        <p:spPr>
          <a:xfrm>
            <a:off x="692952" y="2348563"/>
            <a:ext cx="3879048" cy="393952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4339" y="2117559"/>
            <a:ext cx="7277117" cy="3985067"/>
          </a:xfrm>
        </p:spPr>
        <p:txBody>
          <a:bodyPr>
            <a:noAutofit/>
          </a:bodyPr>
          <a:lstStyle/>
          <a:p>
            <a:endParaRPr lang="en-US" sz="2000" dirty="0"/>
          </a:p>
          <a:p>
            <a:pPr algn="just"/>
            <a:r>
              <a:rPr lang="en-US" dirty="0"/>
              <a:t> </a:t>
            </a:r>
            <a:r>
              <a:rPr lang="en-US" sz="2000" dirty="0">
                <a:latin typeface="Times New Roman" panose="02020603050405020304" pitchFamily="18" charset="0"/>
                <a:cs typeface="Times New Roman" panose="02020603050405020304" pitchFamily="18" charset="0"/>
              </a:rPr>
              <a:t>Use the PIPE tool to obtain the reachability graph.</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Compute the occurrence probability of vulnerable transitions based on the hidden Markov model (HMM) along with the reachability graph (HMM-RG). </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Use the HMM-RG state occurrence probability to obtain the evaluation computation of vulnerable transitions.</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5" name="Title 1"/>
          <p:cNvSpPr>
            <a:spLocks noGrp="1"/>
          </p:cNvSpPr>
          <p:nvPr>
            <p:ph type="title"/>
          </p:nvPr>
        </p:nvSpPr>
        <p:spPr>
          <a:xfrm>
            <a:off x="298450" y="539433"/>
            <a:ext cx="8656638" cy="1054100"/>
          </a:xfrm>
        </p:spPr>
        <p:txBody>
          <a:bodyPr>
            <a:noAutofit/>
          </a:bodyPr>
          <a:lstStyle/>
          <a:p>
            <a:r>
              <a:rPr lang="en-IN" b="1" dirty="0">
                <a:latin typeface="Times New Roman" panose="02020603050405020304" charset="0"/>
                <a:cs typeface="Times New Roman" panose="02020603050405020304" charset="0"/>
              </a:rPr>
              <a:t>ADVANTAGES</a:t>
            </a:r>
            <a:endParaRPr lang="en-US" b="1"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0889" y="2443489"/>
            <a:ext cx="8296976" cy="3707295"/>
          </a:xfrm>
        </p:spPr>
        <p:txBody>
          <a:bodyPr>
            <a:noAutofit/>
          </a:bodyPr>
          <a:lstStyle/>
          <a:p>
            <a:pPr algn="just"/>
            <a:r>
              <a:rPr lang="en-US" sz="2000" dirty="0">
                <a:latin typeface="Times New Roman" panose="02020603050405020304" pitchFamily="18" charset="0"/>
                <a:cs typeface="Times New Roman" panose="02020603050405020304" pitchFamily="18" charset="0"/>
              </a:rPr>
              <a:t>This project identifies e-commerce system vulnerabilities using VET-nets to spot hidden transitions that could lead to security risks. It uses Hidden Markov Models to evaluate these weak points in online transactions, providing insights into potential security breaches.</a:t>
            </a:r>
          </a:p>
          <a:p>
            <a:pPr algn="just">
              <a:buNone/>
            </a:pPr>
            <a:endParaRPr lang="en-US" sz="18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method has limitations with systems requiring detailed data analysis. Future work aims to address these gaps, underscoring the need to enhance e-commerce security and reliability.</a:t>
            </a:r>
          </a:p>
        </p:txBody>
      </p:sp>
      <p:sp>
        <p:nvSpPr>
          <p:cNvPr id="2" name="Title 1"/>
          <p:cNvSpPr>
            <a:spLocks noGrp="1"/>
          </p:cNvSpPr>
          <p:nvPr>
            <p:ph type="title"/>
          </p:nvPr>
        </p:nvSpPr>
        <p:spPr/>
        <p:txBody>
          <a:bodyPr>
            <a:noAutofit/>
          </a:bodyPr>
          <a:lstStyle/>
          <a:p>
            <a:r>
              <a:rPr lang="en-US" b="1" dirty="0">
                <a:latin typeface="Times New Roman" panose="02020603050405020304" charset="0"/>
                <a:cs typeface="Times New Roman" panose="02020603050405020304" charset="0"/>
              </a:rPr>
              <a:t>CONCLUSION</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good-wallpapers.com/pictures/3821/thank-you_wallpaper.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Hardcover</Template>
  <TotalTime>386</TotalTime>
  <Words>778</Words>
  <Application>Microsoft Office PowerPoint</Application>
  <PresentationFormat>On-screen Show (4:3)</PresentationFormat>
  <Paragraphs>126</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Algerian</vt:lpstr>
      <vt:lpstr>Calibri Light</vt:lpstr>
      <vt:lpstr>Times New Roman</vt:lpstr>
      <vt:lpstr>Wingdings</vt:lpstr>
      <vt:lpstr>Calibri</vt:lpstr>
      <vt:lpstr>Book Antiqua</vt:lpstr>
      <vt:lpstr>Arial</vt:lpstr>
      <vt:lpstr>Hardcover</vt:lpstr>
      <vt:lpstr>PowerPoint Presentation</vt:lpstr>
      <vt:lpstr>CONTENTS</vt:lpstr>
      <vt:lpstr>ABSTRACT</vt:lpstr>
      <vt:lpstr>INTRODUCTION</vt:lpstr>
      <vt:lpstr>PROBLEM STATEMENT</vt:lpstr>
      <vt:lpstr>EXISTING SYSTEM</vt:lpstr>
      <vt:lpstr>PROPOSED SYSTEM</vt:lpstr>
      <vt:lpstr>SOFTWARE REQUIREMENTS</vt:lpstr>
      <vt:lpstr>ARCHITECTURE</vt:lpstr>
      <vt:lpstr>IMPLEMENTATION RESULTS AND TEST CASES</vt:lpstr>
      <vt:lpstr>IMPLEMENTATION RESULTS AND TEST CASES</vt:lpstr>
      <vt:lpstr>IMPLEMENTATION RESULTS AND TEST CASES</vt:lpstr>
      <vt:lpstr>ADVANTAGES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Susmitha</dc:creator>
  <cp:lastModifiedBy>Susmitha Dasi</cp:lastModifiedBy>
  <cp:revision>174</cp:revision>
  <dcterms:created xsi:type="dcterms:W3CDTF">2012-04-11T11:10:00Z</dcterms:created>
  <dcterms:modified xsi:type="dcterms:W3CDTF">2026-05-12T06:28:17Z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BB58DA5B72E84D8BBC43EEAD19FC0782_12</vt:lpwstr>
  </property>
  <property fmtid="{D5CDD505-2E9C-101B-9397-08002B2CF9AE}" pid="3" name="KSOProductBuildVer">
    <vt:lpwstr>1033-12.2.0.13306</vt:lpwstr>
  </property>
</Properties>
</file>